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09625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Scope: common per-candidate scores from decision formulations (b) Label likelihood, (c) Head on AR, and (d) Head on NAR. Their scores are normalized into a k-candidate probability vector. The AR-generation decision interface (a) in this study is excluded because it emits free-form text rather than exposing a normalized candidate decision vector. This is an interface distinction, not a claim that AR models lack token logits.</a:t>
            </a:r>
          </a:p>
          <a:p>
            <a:r>
              <a:t>Routing: reduce p to calibrated confidence max_j p_j^T or the difference of the top two probabilities p_(1)-p_(2). Temperature is calibrated separately and fixed at inference. Accept the argmax decision if statistic &gt;= tau; otherwise abstain or route to fallback. Sweeping tau produces the schematic accuracy-coverage tradeoff. The curve is illustrative, not experimental evidence or a claim that empirical accuracy is always monotonic.</a:t>
            </a:r>
          </a:p>
          <a:p>
            <a:r>
              <a:t>Conformal: on an independent held-out calibration split with n examples, compute s_i=max_j p_ij - p_i,y_i. Set r=ceil((n+1)(1-alpha)) and tau equal to the r-th ordered calibration score, with tau=+infinity if r&gt;n. This finite-sample rank correction is required for the stated guarantee; using an unadjusted (1-alpha) empirical quantile with method='higher' alone is not sufficient in general. At test time form Gamma(x)={j:max_l p_l(x)-p_j(x)&lt;=tau}. Under exchangeability of calibration/test data and a fixed score function, marginal P(Y in Gamma(X))&gt;=1-alpha. Temperature fitting or other score-function fitting should be independent of the conformal calibration split unless justified separately. Calibration may determine scalar thresholds/temperatures, but neither mechanism updates backbone or head weights at inference.</a:t>
            </a:r>
          </a:p>
          <a:p>
            <a:r>
              <a:t>The candidate ruler and set are schematic. User named method_routing.py and method_conformal.py, but these files were not supplied or inspected; the figure depicts the requested mechanism with the corrected coverage condition, not a code audit. Technical reference: Ryan Tibshirani, Conformal Prediction lecture notes, https://statgrades.berkeley.edu/~ryantibs/statlearn-s24/lectures/conformal.pdf . All visible elements are editable native PowerPoint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ath-1">
            <a:extLst>
              <a:ext uri="{FF2B5EF4-FFF2-40B4-BE49-F238E27FC236}">
                <a16:creationId xmlns:a16="http://schemas.microsoft.com/office/drawing/2014/main" id="{7A970CDE-5D28-4F1E-86FC-E13D629A39D6}"/>
              </a:ext>
            </a:extLst>
          </p:cNvPr>
          <p:cNvSpPr>
            <a:spLocks noGrp="1"/>
          </p:cNvSpPr>
          <p:nvPr/>
        </p:nvSpPr>
        <p:spPr>
          <a:xfrm>
            <a:off x="2552700" y="371475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" name="path-2">
            <a:extLst>
              <a:ext uri="{FF2B5EF4-FFF2-40B4-BE49-F238E27FC236}">
                <a16:creationId xmlns:a16="http://schemas.microsoft.com/office/drawing/2014/main" id="{9B56FDCD-3D44-48F2-8482-B2D1BAB54032}"/>
              </a:ext>
            </a:extLst>
          </p:cNvPr>
          <p:cNvSpPr>
            <a:spLocks noGrp="1"/>
          </p:cNvSpPr>
          <p:nvPr/>
        </p:nvSpPr>
        <p:spPr>
          <a:xfrm>
            <a:off x="2552700" y="319088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" name="path-3">
            <a:extLst>
              <a:ext uri="{FF2B5EF4-FFF2-40B4-BE49-F238E27FC236}">
                <a16:creationId xmlns:a16="http://schemas.microsoft.com/office/drawing/2014/main" id="{EFE056FE-C626-415E-B836-199E9EBDF66D}"/>
              </a:ext>
            </a:extLst>
          </p:cNvPr>
          <p:cNvSpPr>
            <a:spLocks noGrp="1"/>
          </p:cNvSpPr>
          <p:nvPr/>
        </p:nvSpPr>
        <p:spPr>
          <a:xfrm>
            <a:off x="2552700" y="266700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" name="path-4">
            <a:extLst>
              <a:ext uri="{FF2B5EF4-FFF2-40B4-BE49-F238E27FC236}">
                <a16:creationId xmlns:a16="http://schemas.microsoft.com/office/drawing/2014/main" id="{7A484723-C0B7-4290-8C41-57BB9C6771E2}"/>
              </a:ext>
            </a:extLst>
          </p:cNvPr>
          <p:cNvSpPr>
            <a:spLocks noGrp="1"/>
          </p:cNvSpPr>
          <p:nvPr/>
        </p:nvSpPr>
        <p:spPr>
          <a:xfrm>
            <a:off x="2848451" y="309086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76B1B857-EF82-4AD5-9E3B-AB053F071EEB}"/>
              </a:ext>
            </a:extLst>
          </p:cNvPr>
          <p:cNvSpPr>
            <a:spLocks noGrp="1"/>
          </p:cNvSpPr>
          <p:nvPr/>
        </p:nvSpPr>
        <p:spPr>
          <a:xfrm>
            <a:off x="2786539" y="340043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F10D3811-19EF-46C4-A31E-DD93716235F1}"/>
              </a:ext>
            </a:extLst>
          </p:cNvPr>
          <p:cNvSpPr>
            <a:spLocks noGrp="1"/>
          </p:cNvSpPr>
          <p:nvPr/>
        </p:nvSpPr>
        <p:spPr>
          <a:xfrm>
            <a:off x="2724626" y="370999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" name="path-7">
            <a:extLst>
              <a:ext uri="{FF2B5EF4-FFF2-40B4-BE49-F238E27FC236}">
                <a16:creationId xmlns:a16="http://schemas.microsoft.com/office/drawing/2014/main" id="{0EE2A5B3-D87D-4EF9-AA7B-D94E36DF7FC7}"/>
              </a:ext>
            </a:extLst>
          </p:cNvPr>
          <p:cNvSpPr>
            <a:spLocks noGrp="1"/>
          </p:cNvSpPr>
          <p:nvPr/>
        </p:nvSpPr>
        <p:spPr>
          <a:xfrm>
            <a:off x="2662714" y="401955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8" name="path-8">
            <a:extLst>
              <a:ext uri="{FF2B5EF4-FFF2-40B4-BE49-F238E27FC236}">
                <a16:creationId xmlns:a16="http://schemas.microsoft.com/office/drawing/2014/main" id="{ABAA6640-CBF7-4DEA-A06A-BD7A0028E2D1}"/>
              </a:ext>
            </a:extLst>
          </p:cNvPr>
          <p:cNvSpPr>
            <a:spLocks noGrp="1"/>
          </p:cNvSpPr>
          <p:nvPr/>
        </p:nvSpPr>
        <p:spPr>
          <a:xfrm>
            <a:off x="2910364" y="340043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" name="path-9">
            <a:extLst>
              <a:ext uri="{FF2B5EF4-FFF2-40B4-BE49-F238E27FC236}">
                <a16:creationId xmlns:a16="http://schemas.microsoft.com/office/drawing/2014/main" id="{217BE257-91B0-4A71-9E3C-5C24E396B6A9}"/>
              </a:ext>
            </a:extLst>
          </p:cNvPr>
          <p:cNvSpPr>
            <a:spLocks noGrp="1"/>
          </p:cNvSpPr>
          <p:nvPr/>
        </p:nvSpPr>
        <p:spPr>
          <a:xfrm>
            <a:off x="2848451" y="370999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" name="path-10">
            <a:extLst>
              <a:ext uri="{FF2B5EF4-FFF2-40B4-BE49-F238E27FC236}">
                <a16:creationId xmlns:a16="http://schemas.microsoft.com/office/drawing/2014/main" id="{18D5B188-0148-4F5F-A132-54B722D0CEF9}"/>
              </a:ext>
            </a:extLst>
          </p:cNvPr>
          <p:cNvSpPr>
            <a:spLocks noGrp="1"/>
          </p:cNvSpPr>
          <p:nvPr/>
        </p:nvSpPr>
        <p:spPr>
          <a:xfrm>
            <a:off x="2786539" y="401955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" name="path-11">
            <a:extLst>
              <a:ext uri="{FF2B5EF4-FFF2-40B4-BE49-F238E27FC236}">
                <a16:creationId xmlns:a16="http://schemas.microsoft.com/office/drawing/2014/main" id="{910134C1-CED8-493B-B848-6C1451C09FD0}"/>
              </a:ext>
            </a:extLst>
          </p:cNvPr>
          <p:cNvSpPr>
            <a:spLocks noGrp="1"/>
          </p:cNvSpPr>
          <p:nvPr/>
        </p:nvSpPr>
        <p:spPr>
          <a:xfrm>
            <a:off x="2724626" y="432911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path-12">
            <a:extLst>
              <a:ext uri="{FF2B5EF4-FFF2-40B4-BE49-F238E27FC236}">
                <a16:creationId xmlns:a16="http://schemas.microsoft.com/office/drawing/2014/main" id="{02F048AA-E46C-4DCB-B460-2F1563DA82D7}"/>
              </a:ext>
            </a:extLst>
          </p:cNvPr>
          <p:cNvSpPr>
            <a:spLocks noGrp="1"/>
          </p:cNvSpPr>
          <p:nvPr/>
        </p:nvSpPr>
        <p:spPr>
          <a:xfrm>
            <a:off x="2972276" y="370999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" name="path-13">
            <a:extLst>
              <a:ext uri="{FF2B5EF4-FFF2-40B4-BE49-F238E27FC236}">
                <a16:creationId xmlns:a16="http://schemas.microsoft.com/office/drawing/2014/main" id="{BA154F22-5F1A-46E3-ACD6-8387653CA908}"/>
              </a:ext>
            </a:extLst>
          </p:cNvPr>
          <p:cNvSpPr>
            <a:spLocks noGrp="1"/>
          </p:cNvSpPr>
          <p:nvPr/>
        </p:nvSpPr>
        <p:spPr>
          <a:xfrm>
            <a:off x="2910364" y="401955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" name="path-14">
            <a:extLst>
              <a:ext uri="{FF2B5EF4-FFF2-40B4-BE49-F238E27FC236}">
                <a16:creationId xmlns:a16="http://schemas.microsoft.com/office/drawing/2014/main" id="{C28EE856-1EFB-477D-9117-9AB0B6C87A52}"/>
              </a:ext>
            </a:extLst>
          </p:cNvPr>
          <p:cNvSpPr>
            <a:spLocks noGrp="1"/>
          </p:cNvSpPr>
          <p:nvPr/>
        </p:nvSpPr>
        <p:spPr>
          <a:xfrm>
            <a:off x="2848451" y="432911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" name="path-15">
            <a:extLst>
              <a:ext uri="{FF2B5EF4-FFF2-40B4-BE49-F238E27FC236}">
                <a16:creationId xmlns:a16="http://schemas.microsoft.com/office/drawing/2014/main" id="{D0756383-CF84-4866-83B0-E779AA4DA475}"/>
              </a:ext>
            </a:extLst>
          </p:cNvPr>
          <p:cNvSpPr>
            <a:spLocks noGrp="1"/>
          </p:cNvSpPr>
          <p:nvPr/>
        </p:nvSpPr>
        <p:spPr>
          <a:xfrm>
            <a:off x="2786539" y="463868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" name="path-16">
            <a:extLst>
              <a:ext uri="{FF2B5EF4-FFF2-40B4-BE49-F238E27FC236}">
                <a16:creationId xmlns:a16="http://schemas.microsoft.com/office/drawing/2014/main" id="{9572C288-EB7A-4CF6-9D18-0CB6A68C756A}"/>
              </a:ext>
            </a:extLst>
          </p:cNvPr>
          <p:cNvSpPr>
            <a:spLocks noGrp="1"/>
          </p:cNvSpPr>
          <p:nvPr/>
        </p:nvSpPr>
        <p:spPr>
          <a:xfrm>
            <a:off x="3034189" y="401955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" name="path-17">
            <a:extLst>
              <a:ext uri="{FF2B5EF4-FFF2-40B4-BE49-F238E27FC236}">
                <a16:creationId xmlns:a16="http://schemas.microsoft.com/office/drawing/2014/main" id="{B53704FC-D1A1-4E0D-88D5-0259E9A4B93D}"/>
              </a:ext>
            </a:extLst>
          </p:cNvPr>
          <p:cNvSpPr>
            <a:spLocks noGrp="1"/>
          </p:cNvSpPr>
          <p:nvPr/>
        </p:nvSpPr>
        <p:spPr>
          <a:xfrm>
            <a:off x="2972276" y="432911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D49C3B55-E503-4915-9B29-50FFD254DBCA}"/>
              </a:ext>
            </a:extLst>
          </p:cNvPr>
          <p:cNvSpPr>
            <a:spLocks noGrp="1"/>
          </p:cNvSpPr>
          <p:nvPr/>
        </p:nvSpPr>
        <p:spPr>
          <a:xfrm>
            <a:off x="2910364" y="463868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62E4A4CE-9BFD-4911-B51A-87891DB6E17B}"/>
              </a:ext>
            </a:extLst>
          </p:cNvPr>
          <p:cNvSpPr>
            <a:spLocks noGrp="1"/>
          </p:cNvSpPr>
          <p:nvPr/>
        </p:nvSpPr>
        <p:spPr>
          <a:xfrm>
            <a:off x="2848451" y="494824"/>
            <a:ext cx="75247" cy="39052"/>
          </a:xfrm>
          <a:custGeom>
            <a:avLst/>
            <a:gdLst/>
            <a:ahLst/>
            <a:cxnLst/>
            <a:rect l="0" t="0" r="0" b="0"/>
            <a:pathLst>
              <a:path w="75247" h="39052">
                <a:moveTo>
                  <a:pt x="37624" y="0"/>
                </a:moveTo>
                <a:lnTo>
                  <a:pt x="75247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" name="vector-20">
            <a:extLst>
              <a:ext uri="{FF2B5EF4-FFF2-40B4-BE49-F238E27FC236}">
                <a16:creationId xmlns:a16="http://schemas.microsoft.com/office/drawing/2014/main" id="{D75C860D-268C-4D64-AFAE-240E9CD47AA7}"/>
              </a:ext>
            </a:extLst>
          </p:cNvPr>
          <p:cNvSpPr>
            <a:spLocks noGrp="1"/>
          </p:cNvSpPr>
          <p:nvPr/>
        </p:nvSpPr>
        <p:spPr>
          <a:xfrm>
            <a:off x="3304699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1" name="vector-21">
            <a:extLst>
              <a:ext uri="{FF2B5EF4-FFF2-40B4-BE49-F238E27FC236}">
                <a16:creationId xmlns:a16="http://schemas.microsoft.com/office/drawing/2014/main" id="{E8EE7C02-DE3E-4DAD-9E21-608398305D9E}"/>
              </a:ext>
            </a:extLst>
          </p:cNvPr>
          <p:cNvSpPr>
            <a:spLocks noGrp="1"/>
          </p:cNvSpPr>
          <p:nvPr/>
        </p:nvSpPr>
        <p:spPr>
          <a:xfrm>
            <a:off x="3828574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252" name="Straight Arrow Connector 251"/>
          <p:cNvCxnSpPr>
            <a:stCxn id="20" idx="3"/>
            <a:endCxn id="21" idx="1"/>
          </p:cNvCxnSpPr>
          <p:nvPr/>
        </p:nvCxnSpPr>
        <p:spPr>
          <a:xfrm>
            <a:off x="3305652" y="485776"/>
            <a:ext cx="522922" cy="0"/>
          </a:xfrm>
          <a:prstGeom prst="straightConnector1">
            <a:avLst/>
          </a:prstGeom>
          <a:ln w="17145">
            <a:solidFill>
              <a:srgbClr val="4A73BC"/>
            </a:solidFill>
            <a:tailEnd type="triangle" w="sm" len="sm"/>
          </a:ln>
        </p:spPr>
      </p:cxnSp>
      <p:sp>
        <p:nvSpPr>
          <p:cNvPr id="23" name="vector-22">
            <a:extLst>
              <a:ext uri="{FF2B5EF4-FFF2-40B4-BE49-F238E27FC236}">
                <a16:creationId xmlns:a16="http://schemas.microsoft.com/office/drawing/2014/main" id="{8F650F3F-2D04-4007-891B-6E0AE0F0B455}"/>
              </a:ext>
            </a:extLst>
          </p:cNvPr>
          <p:cNvSpPr>
            <a:spLocks noGrp="1"/>
          </p:cNvSpPr>
          <p:nvPr/>
        </p:nvSpPr>
        <p:spPr>
          <a:xfrm>
            <a:off x="3952875" y="314325"/>
            <a:ext cx="285750" cy="76200"/>
          </a:xfrm>
          <a:prstGeom prst="roundRect">
            <a:avLst>
              <a:gd name="adj" fmla="val 50000"/>
            </a:avLst>
          </a:prstGeom>
          <a:solidFill>
            <a:srgbClr val="4A73BC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4" name="vector-23">
            <a:extLst>
              <a:ext uri="{FF2B5EF4-FFF2-40B4-BE49-F238E27FC236}">
                <a16:creationId xmlns:a16="http://schemas.microsoft.com/office/drawing/2014/main" id="{3CE48DB7-CD1F-4EB3-85BA-CB5ED933041F}"/>
              </a:ext>
            </a:extLst>
          </p:cNvPr>
          <p:cNvSpPr>
            <a:spLocks noGrp="1"/>
          </p:cNvSpPr>
          <p:nvPr/>
        </p:nvSpPr>
        <p:spPr>
          <a:xfrm>
            <a:off x="3952875" y="447675"/>
            <a:ext cx="542925" cy="76200"/>
          </a:xfrm>
          <a:prstGeom prst="roundRect">
            <a:avLst>
              <a:gd name="adj" fmla="val 50000"/>
            </a:avLst>
          </a:prstGeom>
          <a:solidFill>
            <a:srgbClr val="4A73BC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5" name="vector-24">
            <a:extLst>
              <a:ext uri="{FF2B5EF4-FFF2-40B4-BE49-F238E27FC236}">
                <a16:creationId xmlns:a16="http://schemas.microsoft.com/office/drawing/2014/main" id="{E93FAAD4-E345-4375-8597-1A96476F3F89}"/>
              </a:ext>
            </a:extLst>
          </p:cNvPr>
          <p:cNvSpPr>
            <a:spLocks noGrp="1"/>
          </p:cNvSpPr>
          <p:nvPr/>
        </p:nvSpPr>
        <p:spPr>
          <a:xfrm>
            <a:off x="3952875" y="581025"/>
            <a:ext cx="171450" cy="76200"/>
          </a:xfrm>
          <a:prstGeom prst="roundRect">
            <a:avLst>
              <a:gd name="adj" fmla="val 50000"/>
            </a:avLst>
          </a:prstGeom>
          <a:solidFill>
            <a:srgbClr val="4A73BC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6" name="vector-25">
            <a:extLst>
              <a:ext uri="{FF2B5EF4-FFF2-40B4-BE49-F238E27FC236}">
                <a16:creationId xmlns:a16="http://schemas.microsoft.com/office/drawing/2014/main" id="{268E69C2-A42C-4CA6-9950-1A4A34BBACE8}"/>
              </a:ext>
            </a:extLst>
          </p:cNvPr>
          <p:cNvSpPr>
            <a:spLocks noGrp="1"/>
          </p:cNvSpPr>
          <p:nvPr/>
        </p:nvSpPr>
        <p:spPr>
          <a:xfrm>
            <a:off x="2143125" y="876300"/>
            <a:ext cx="3143250" cy="3048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8323E"/>
                </a:solidFill>
                <a:latin typeface="Arial"/>
                <a:ea typeface="Arial"/>
                <a:cs typeface="Arial"/>
              </a:rPr>
              <a:t>Label likelihood</a:t>
            </a:r>
          </a:p>
        </p:txBody>
      </p:sp>
      <p:sp>
        <p:nvSpPr>
          <p:cNvPr id="27" name="path-26">
            <a:extLst>
              <a:ext uri="{FF2B5EF4-FFF2-40B4-BE49-F238E27FC236}">
                <a16:creationId xmlns:a16="http://schemas.microsoft.com/office/drawing/2014/main" id="{7A8A3D99-4037-479D-B0C6-E089C93C31D1}"/>
              </a:ext>
            </a:extLst>
          </p:cNvPr>
          <p:cNvSpPr>
            <a:spLocks noGrp="1"/>
          </p:cNvSpPr>
          <p:nvPr/>
        </p:nvSpPr>
        <p:spPr>
          <a:xfrm>
            <a:off x="3714750" y="1257300"/>
            <a:ext cx="953" cy="180975"/>
          </a:xfrm>
          <a:custGeom>
            <a:avLst/>
            <a:gdLst/>
            <a:ahLst/>
            <a:cxnLst/>
            <a:rect l="0" t="0" r="0" b="0"/>
            <a:pathLst>
              <a:path w="953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8" name="path-27">
            <a:extLst>
              <a:ext uri="{FF2B5EF4-FFF2-40B4-BE49-F238E27FC236}">
                <a16:creationId xmlns:a16="http://schemas.microsoft.com/office/drawing/2014/main" id="{ADC363B3-C6CE-440A-ACBA-01F4823C6F68}"/>
              </a:ext>
            </a:extLst>
          </p:cNvPr>
          <p:cNvSpPr>
            <a:spLocks noGrp="1"/>
          </p:cNvSpPr>
          <p:nvPr/>
        </p:nvSpPr>
        <p:spPr>
          <a:xfrm>
            <a:off x="6457950" y="371475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9" name="path-28">
            <a:extLst>
              <a:ext uri="{FF2B5EF4-FFF2-40B4-BE49-F238E27FC236}">
                <a16:creationId xmlns:a16="http://schemas.microsoft.com/office/drawing/2014/main" id="{ED6073B1-C868-47EC-B905-6182303A4A31}"/>
              </a:ext>
            </a:extLst>
          </p:cNvPr>
          <p:cNvSpPr>
            <a:spLocks noGrp="1"/>
          </p:cNvSpPr>
          <p:nvPr/>
        </p:nvSpPr>
        <p:spPr>
          <a:xfrm>
            <a:off x="6457950" y="319088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0" name="path-29">
            <a:extLst>
              <a:ext uri="{FF2B5EF4-FFF2-40B4-BE49-F238E27FC236}">
                <a16:creationId xmlns:a16="http://schemas.microsoft.com/office/drawing/2014/main" id="{741990C6-E3C4-4F99-A96C-9525B9A718F3}"/>
              </a:ext>
            </a:extLst>
          </p:cNvPr>
          <p:cNvSpPr>
            <a:spLocks noGrp="1"/>
          </p:cNvSpPr>
          <p:nvPr/>
        </p:nvSpPr>
        <p:spPr>
          <a:xfrm>
            <a:off x="6457950" y="266700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1" name="path-30">
            <a:extLst>
              <a:ext uri="{FF2B5EF4-FFF2-40B4-BE49-F238E27FC236}">
                <a16:creationId xmlns:a16="http://schemas.microsoft.com/office/drawing/2014/main" id="{449CE13F-A449-4E2C-AABA-82029DD8FA84}"/>
              </a:ext>
            </a:extLst>
          </p:cNvPr>
          <p:cNvSpPr>
            <a:spLocks noGrp="1"/>
          </p:cNvSpPr>
          <p:nvPr/>
        </p:nvSpPr>
        <p:spPr>
          <a:xfrm>
            <a:off x="6753701" y="309086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2" name="path-31">
            <a:extLst>
              <a:ext uri="{FF2B5EF4-FFF2-40B4-BE49-F238E27FC236}">
                <a16:creationId xmlns:a16="http://schemas.microsoft.com/office/drawing/2014/main" id="{85144D03-C7D0-4704-BDC6-23770072D4D2}"/>
              </a:ext>
            </a:extLst>
          </p:cNvPr>
          <p:cNvSpPr>
            <a:spLocks noGrp="1"/>
          </p:cNvSpPr>
          <p:nvPr/>
        </p:nvSpPr>
        <p:spPr>
          <a:xfrm>
            <a:off x="6691789" y="340043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3" name="path-32">
            <a:extLst>
              <a:ext uri="{FF2B5EF4-FFF2-40B4-BE49-F238E27FC236}">
                <a16:creationId xmlns:a16="http://schemas.microsoft.com/office/drawing/2014/main" id="{D0DD4E63-9BC4-4FB4-A1C4-F6894B7285D3}"/>
              </a:ext>
            </a:extLst>
          </p:cNvPr>
          <p:cNvSpPr>
            <a:spLocks noGrp="1"/>
          </p:cNvSpPr>
          <p:nvPr/>
        </p:nvSpPr>
        <p:spPr>
          <a:xfrm>
            <a:off x="6629876" y="370999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4" name="path-33">
            <a:extLst>
              <a:ext uri="{FF2B5EF4-FFF2-40B4-BE49-F238E27FC236}">
                <a16:creationId xmlns:a16="http://schemas.microsoft.com/office/drawing/2014/main" id="{9017C757-159D-4091-85B6-2B72073AE793}"/>
              </a:ext>
            </a:extLst>
          </p:cNvPr>
          <p:cNvSpPr>
            <a:spLocks noGrp="1"/>
          </p:cNvSpPr>
          <p:nvPr/>
        </p:nvSpPr>
        <p:spPr>
          <a:xfrm>
            <a:off x="6567964" y="401955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5" name="path-34">
            <a:extLst>
              <a:ext uri="{FF2B5EF4-FFF2-40B4-BE49-F238E27FC236}">
                <a16:creationId xmlns:a16="http://schemas.microsoft.com/office/drawing/2014/main" id="{B4DF1B7E-54AF-4605-8E79-697AB701C05B}"/>
              </a:ext>
            </a:extLst>
          </p:cNvPr>
          <p:cNvSpPr>
            <a:spLocks noGrp="1"/>
          </p:cNvSpPr>
          <p:nvPr/>
        </p:nvSpPr>
        <p:spPr>
          <a:xfrm>
            <a:off x="6815614" y="340043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6" name="path-35">
            <a:extLst>
              <a:ext uri="{FF2B5EF4-FFF2-40B4-BE49-F238E27FC236}">
                <a16:creationId xmlns:a16="http://schemas.microsoft.com/office/drawing/2014/main" id="{39CF1144-181E-49F2-8B0E-23743FCBCCF7}"/>
              </a:ext>
            </a:extLst>
          </p:cNvPr>
          <p:cNvSpPr>
            <a:spLocks noGrp="1"/>
          </p:cNvSpPr>
          <p:nvPr/>
        </p:nvSpPr>
        <p:spPr>
          <a:xfrm>
            <a:off x="6753701" y="370999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7" name="path-36">
            <a:extLst>
              <a:ext uri="{FF2B5EF4-FFF2-40B4-BE49-F238E27FC236}">
                <a16:creationId xmlns:a16="http://schemas.microsoft.com/office/drawing/2014/main" id="{CE4AC29A-ABA0-49BF-992D-46247CD4FE20}"/>
              </a:ext>
            </a:extLst>
          </p:cNvPr>
          <p:cNvSpPr>
            <a:spLocks noGrp="1"/>
          </p:cNvSpPr>
          <p:nvPr/>
        </p:nvSpPr>
        <p:spPr>
          <a:xfrm>
            <a:off x="6691789" y="401955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8" name="path-37">
            <a:extLst>
              <a:ext uri="{FF2B5EF4-FFF2-40B4-BE49-F238E27FC236}">
                <a16:creationId xmlns:a16="http://schemas.microsoft.com/office/drawing/2014/main" id="{6D772A46-86C3-4EC7-8559-9777532FD004}"/>
              </a:ext>
            </a:extLst>
          </p:cNvPr>
          <p:cNvSpPr>
            <a:spLocks noGrp="1"/>
          </p:cNvSpPr>
          <p:nvPr/>
        </p:nvSpPr>
        <p:spPr>
          <a:xfrm>
            <a:off x="6629876" y="432911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9" name="path-38">
            <a:extLst>
              <a:ext uri="{FF2B5EF4-FFF2-40B4-BE49-F238E27FC236}">
                <a16:creationId xmlns:a16="http://schemas.microsoft.com/office/drawing/2014/main" id="{74BCAE0E-95D5-4CF5-A0E1-F651DCECF127}"/>
              </a:ext>
            </a:extLst>
          </p:cNvPr>
          <p:cNvSpPr>
            <a:spLocks noGrp="1"/>
          </p:cNvSpPr>
          <p:nvPr/>
        </p:nvSpPr>
        <p:spPr>
          <a:xfrm>
            <a:off x="6877526" y="370999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0" name="path-39">
            <a:extLst>
              <a:ext uri="{FF2B5EF4-FFF2-40B4-BE49-F238E27FC236}">
                <a16:creationId xmlns:a16="http://schemas.microsoft.com/office/drawing/2014/main" id="{076B6EF4-0AC4-4076-96BE-FC36A77CF5BE}"/>
              </a:ext>
            </a:extLst>
          </p:cNvPr>
          <p:cNvSpPr>
            <a:spLocks noGrp="1"/>
          </p:cNvSpPr>
          <p:nvPr/>
        </p:nvSpPr>
        <p:spPr>
          <a:xfrm>
            <a:off x="6815614" y="401955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1" name="path-40">
            <a:extLst>
              <a:ext uri="{FF2B5EF4-FFF2-40B4-BE49-F238E27FC236}">
                <a16:creationId xmlns:a16="http://schemas.microsoft.com/office/drawing/2014/main" id="{778CDAB3-E308-44B0-94E4-B98FA6C5CEF6}"/>
              </a:ext>
            </a:extLst>
          </p:cNvPr>
          <p:cNvSpPr>
            <a:spLocks noGrp="1"/>
          </p:cNvSpPr>
          <p:nvPr/>
        </p:nvSpPr>
        <p:spPr>
          <a:xfrm>
            <a:off x="6753701" y="432911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2" name="path-41">
            <a:extLst>
              <a:ext uri="{FF2B5EF4-FFF2-40B4-BE49-F238E27FC236}">
                <a16:creationId xmlns:a16="http://schemas.microsoft.com/office/drawing/2014/main" id="{8B855C85-31CB-42E8-BC77-76152C74D7BF}"/>
              </a:ext>
            </a:extLst>
          </p:cNvPr>
          <p:cNvSpPr>
            <a:spLocks noGrp="1"/>
          </p:cNvSpPr>
          <p:nvPr/>
        </p:nvSpPr>
        <p:spPr>
          <a:xfrm>
            <a:off x="6691789" y="463868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FFFFFF"/>
          </a:solidFill>
          <a:ln w="7620">
            <a:solidFill>
              <a:srgbClr val="CAD6E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3" name="path-42">
            <a:extLst>
              <a:ext uri="{FF2B5EF4-FFF2-40B4-BE49-F238E27FC236}">
                <a16:creationId xmlns:a16="http://schemas.microsoft.com/office/drawing/2014/main" id="{EA9209BE-C2A5-49B1-BB87-9EA36C92D6E2}"/>
              </a:ext>
            </a:extLst>
          </p:cNvPr>
          <p:cNvSpPr>
            <a:spLocks noGrp="1"/>
          </p:cNvSpPr>
          <p:nvPr/>
        </p:nvSpPr>
        <p:spPr>
          <a:xfrm>
            <a:off x="6939439" y="401955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4" name="path-43">
            <a:extLst>
              <a:ext uri="{FF2B5EF4-FFF2-40B4-BE49-F238E27FC236}">
                <a16:creationId xmlns:a16="http://schemas.microsoft.com/office/drawing/2014/main" id="{2DAB9F47-9F81-48B4-A2D2-BA30E081F541}"/>
              </a:ext>
            </a:extLst>
          </p:cNvPr>
          <p:cNvSpPr>
            <a:spLocks noGrp="1"/>
          </p:cNvSpPr>
          <p:nvPr/>
        </p:nvSpPr>
        <p:spPr>
          <a:xfrm>
            <a:off x="6877526" y="432911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5" name="path-44">
            <a:extLst>
              <a:ext uri="{FF2B5EF4-FFF2-40B4-BE49-F238E27FC236}">
                <a16:creationId xmlns:a16="http://schemas.microsoft.com/office/drawing/2014/main" id="{7D945D28-6F53-4A22-8D62-D4F744312B93}"/>
              </a:ext>
            </a:extLst>
          </p:cNvPr>
          <p:cNvSpPr>
            <a:spLocks noGrp="1"/>
          </p:cNvSpPr>
          <p:nvPr/>
        </p:nvSpPr>
        <p:spPr>
          <a:xfrm>
            <a:off x="6815614" y="463868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6" name="path-45">
            <a:extLst>
              <a:ext uri="{FF2B5EF4-FFF2-40B4-BE49-F238E27FC236}">
                <a16:creationId xmlns:a16="http://schemas.microsoft.com/office/drawing/2014/main" id="{C076AB5A-A6E9-4922-83AD-0FD812D2BB75}"/>
              </a:ext>
            </a:extLst>
          </p:cNvPr>
          <p:cNvSpPr>
            <a:spLocks noGrp="1"/>
          </p:cNvSpPr>
          <p:nvPr/>
        </p:nvSpPr>
        <p:spPr>
          <a:xfrm>
            <a:off x="6753701" y="494824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4A73BC"/>
          </a:solidFill>
          <a:ln w="762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7" name="vector-46">
            <a:extLst>
              <a:ext uri="{FF2B5EF4-FFF2-40B4-BE49-F238E27FC236}">
                <a16:creationId xmlns:a16="http://schemas.microsoft.com/office/drawing/2014/main" id="{3A926531-91DF-41AA-AB08-4C50CBEA8CF6}"/>
              </a:ext>
            </a:extLst>
          </p:cNvPr>
          <p:cNvSpPr>
            <a:spLocks noGrp="1"/>
          </p:cNvSpPr>
          <p:nvPr/>
        </p:nvSpPr>
        <p:spPr>
          <a:xfrm>
            <a:off x="7200424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48" name="vector-47">
            <a:extLst>
              <a:ext uri="{FF2B5EF4-FFF2-40B4-BE49-F238E27FC236}">
                <a16:creationId xmlns:a16="http://schemas.microsoft.com/office/drawing/2014/main" id="{8423EEA2-8578-48F0-BEE5-6333D75D9C6B}"/>
              </a:ext>
            </a:extLst>
          </p:cNvPr>
          <p:cNvSpPr>
            <a:spLocks noGrp="1"/>
          </p:cNvSpPr>
          <p:nvPr/>
        </p:nvSpPr>
        <p:spPr>
          <a:xfrm>
            <a:off x="7495699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279" name="Straight Arrow Connector 278"/>
          <p:cNvCxnSpPr>
            <a:stCxn id="47" idx="3"/>
            <a:endCxn id="48" idx="1"/>
          </p:cNvCxnSpPr>
          <p:nvPr/>
        </p:nvCxnSpPr>
        <p:spPr>
          <a:xfrm>
            <a:off x="7201377" y="485776"/>
            <a:ext cx="294322" cy="0"/>
          </a:xfrm>
          <a:prstGeom prst="straightConnector1">
            <a:avLst/>
          </a:prstGeom>
          <a:ln w="17145">
            <a:solidFill>
              <a:srgbClr val="4A73BC"/>
            </a:solidFill>
            <a:tailEnd type="triangle" w="sm" len="sm"/>
          </a:ln>
        </p:spPr>
      </p:cxnSp>
      <p:sp>
        <p:nvSpPr>
          <p:cNvPr id="50" name="vector-48">
            <a:extLst>
              <a:ext uri="{FF2B5EF4-FFF2-40B4-BE49-F238E27FC236}">
                <a16:creationId xmlns:a16="http://schemas.microsoft.com/office/drawing/2014/main" id="{342885A1-ECA5-42A5-A4D5-5248B328619D}"/>
              </a:ext>
            </a:extLst>
          </p:cNvPr>
          <p:cNvSpPr>
            <a:spLocks noGrp="1"/>
          </p:cNvSpPr>
          <p:nvPr/>
        </p:nvSpPr>
        <p:spPr>
          <a:xfrm>
            <a:off x="7496175" y="295275"/>
            <a:ext cx="381000" cy="38100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51" name="vector-49">
            <a:extLst>
              <a:ext uri="{FF2B5EF4-FFF2-40B4-BE49-F238E27FC236}">
                <a16:creationId xmlns:a16="http://schemas.microsoft.com/office/drawing/2014/main" id="{8463F638-BA41-425F-BB5D-6D4E4DFD232A}"/>
              </a:ext>
            </a:extLst>
          </p:cNvPr>
          <p:cNvSpPr>
            <a:spLocks noGrp="1"/>
          </p:cNvSpPr>
          <p:nvPr/>
        </p:nvSpPr>
        <p:spPr>
          <a:xfrm>
            <a:off x="7505700" y="342900"/>
            <a:ext cx="36195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fθ</a:t>
            </a:r>
          </a:p>
        </p:txBody>
      </p:sp>
      <p:sp>
        <p:nvSpPr>
          <p:cNvPr id="52" name="vector-50">
            <a:extLst>
              <a:ext uri="{FF2B5EF4-FFF2-40B4-BE49-F238E27FC236}">
                <a16:creationId xmlns:a16="http://schemas.microsoft.com/office/drawing/2014/main" id="{10798DA8-A075-444C-8E97-03EF303FC6F1}"/>
              </a:ext>
            </a:extLst>
          </p:cNvPr>
          <p:cNvSpPr>
            <a:spLocks noGrp="1"/>
          </p:cNvSpPr>
          <p:nvPr/>
        </p:nvSpPr>
        <p:spPr>
          <a:xfrm>
            <a:off x="7895749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vector-51">
            <a:extLst>
              <a:ext uri="{FF2B5EF4-FFF2-40B4-BE49-F238E27FC236}">
                <a16:creationId xmlns:a16="http://schemas.microsoft.com/office/drawing/2014/main" id="{28BBE69A-68DD-43E1-96E8-78ACBAFAF840}"/>
              </a:ext>
            </a:extLst>
          </p:cNvPr>
          <p:cNvSpPr>
            <a:spLocks noGrp="1"/>
          </p:cNvSpPr>
          <p:nvPr/>
        </p:nvSpPr>
        <p:spPr>
          <a:xfrm>
            <a:off x="8114824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284" name="Straight Arrow Connector 283"/>
          <p:cNvCxnSpPr>
            <a:stCxn id="52" idx="3"/>
            <a:endCxn id="53" idx="1"/>
          </p:cNvCxnSpPr>
          <p:nvPr/>
        </p:nvCxnSpPr>
        <p:spPr>
          <a:xfrm>
            <a:off x="7896702" y="485776"/>
            <a:ext cx="218122" cy="0"/>
          </a:xfrm>
          <a:prstGeom prst="straightConnector1">
            <a:avLst/>
          </a:prstGeom>
          <a:ln w="17145">
            <a:solidFill>
              <a:srgbClr val="8B6BB4"/>
            </a:solidFill>
            <a:tailEnd type="triangle" w="sm" len="sm"/>
          </a:ln>
        </p:spPr>
      </p:cxnSp>
      <p:sp>
        <p:nvSpPr>
          <p:cNvPr id="55" name="vector-52">
            <a:extLst>
              <a:ext uri="{FF2B5EF4-FFF2-40B4-BE49-F238E27FC236}">
                <a16:creationId xmlns:a16="http://schemas.microsoft.com/office/drawing/2014/main" id="{EB1E248D-6FFB-4C4D-9B34-E7E79FEB6CDB}"/>
              </a:ext>
            </a:extLst>
          </p:cNvPr>
          <p:cNvSpPr>
            <a:spLocks noGrp="1"/>
          </p:cNvSpPr>
          <p:nvPr/>
        </p:nvSpPr>
        <p:spPr>
          <a:xfrm>
            <a:off x="8210550" y="314325"/>
            <a:ext cx="285750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6" name="vector-53">
            <a:extLst>
              <a:ext uri="{FF2B5EF4-FFF2-40B4-BE49-F238E27FC236}">
                <a16:creationId xmlns:a16="http://schemas.microsoft.com/office/drawing/2014/main" id="{0AAA4A18-EAEC-4DA4-A000-E2738B77AEE1}"/>
              </a:ext>
            </a:extLst>
          </p:cNvPr>
          <p:cNvSpPr>
            <a:spLocks noGrp="1"/>
          </p:cNvSpPr>
          <p:nvPr/>
        </p:nvSpPr>
        <p:spPr>
          <a:xfrm>
            <a:off x="8210550" y="447675"/>
            <a:ext cx="542925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7" name="vector-54">
            <a:extLst>
              <a:ext uri="{FF2B5EF4-FFF2-40B4-BE49-F238E27FC236}">
                <a16:creationId xmlns:a16="http://schemas.microsoft.com/office/drawing/2014/main" id="{A10F57C8-7458-40E2-A54A-72B58704DF22}"/>
              </a:ext>
            </a:extLst>
          </p:cNvPr>
          <p:cNvSpPr>
            <a:spLocks noGrp="1"/>
          </p:cNvSpPr>
          <p:nvPr/>
        </p:nvSpPr>
        <p:spPr>
          <a:xfrm>
            <a:off x="8210550" y="581025"/>
            <a:ext cx="171450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8" name="vector-55">
            <a:extLst>
              <a:ext uri="{FF2B5EF4-FFF2-40B4-BE49-F238E27FC236}">
                <a16:creationId xmlns:a16="http://schemas.microsoft.com/office/drawing/2014/main" id="{66DDB56F-23C2-49FA-BAC5-AB88864FF3D3}"/>
              </a:ext>
            </a:extLst>
          </p:cNvPr>
          <p:cNvSpPr>
            <a:spLocks noGrp="1"/>
          </p:cNvSpPr>
          <p:nvPr/>
        </p:nvSpPr>
        <p:spPr>
          <a:xfrm>
            <a:off x="6048375" y="876300"/>
            <a:ext cx="3143250" cy="3048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8323E"/>
                </a:solidFill>
                <a:latin typeface="Arial"/>
                <a:ea typeface="Arial"/>
                <a:cs typeface="Arial"/>
              </a:rPr>
              <a:t>Head on AR</a:t>
            </a:r>
          </a:p>
        </p:txBody>
      </p:sp>
      <p:sp>
        <p:nvSpPr>
          <p:cNvPr id="59" name="path-56">
            <a:extLst>
              <a:ext uri="{FF2B5EF4-FFF2-40B4-BE49-F238E27FC236}">
                <a16:creationId xmlns:a16="http://schemas.microsoft.com/office/drawing/2014/main" id="{57DAD9E6-5C2D-4998-BCC4-0D850CEC03D0}"/>
              </a:ext>
            </a:extLst>
          </p:cNvPr>
          <p:cNvSpPr>
            <a:spLocks noGrp="1"/>
          </p:cNvSpPr>
          <p:nvPr/>
        </p:nvSpPr>
        <p:spPr>
          <a:xfrm>
            <a:off x="7620000" y="1257300"/>
            <a:ext cx="953" cy="180975"/>
          </a:xfrm>
          <a:custGeom>
            <a:avLst/>
            <a:gdLst/>
            <a:ahLst/>
            <a:cxnLst/>
            <a:rect l="0" t="0" r="0" b="0"/>
            <a:pathLst>
              <a:path w="953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0" name="path-57">
            <a:extLst>
              <a:ext uri="{FF2B5EF4-FFF2-40B4-BE49-F238E27FC236}">
                <a16:creationId xmlns:a16="http://schemas.microsoft.com/office/drawing/2014/main" id="{3342891C-91DB-49AD-B428-65A56CD692D0}"/>
              </a:ext>
            </a:extLst>
          </p:cNvPr>
          <p:cNvSpPr>
            <a:spLocks noGrp="1"/>
          </p:cNvSpPr>
          <p:nvPr/>
        </p:nvSpPr>
        <p:spPr>
          <a:xfrm>
            <a:off x="10363200" y="371475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8F5F1"/>
          </a:solidFill>
          <a:ln w="1714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1" name="path-58">
            <a:extLst>
              <a:ext uri="{FF2B5EF4-FFF2-40B4-BE49-F238E27FC236}">
                <a16:creationId xmlns:a16="http://schemas.microsoft.com/office/drawing/2014/main" id="{C3C1568C-99E5-41D7-BB9B-9A7A251B7F40}"/>
              </a:ext>
            </a:extLst>
          </p:cNvPr>
          <p:cNvSpPr>
            <a:spLocks noGrp="1"/>
          </p:cNvSpPr>
          <p:nvPr/>
        </p:nvSpPr>
        <p:spPr>
          <a:xfrm>
            <a:off x="10363200" y="319088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8F5F1"/>
          </a:solidFill>
          <a:ln w="1714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2" name="path-59">
            <a:extLst>
              <a:ext uri="{FF2B5EF4-FFF2-40B4-BE49-F238E27FC236}">
                <a16:creationId xmlns:a16="http://schemas.microsoft.com/office/drawing/2014/main" id="{F43CB27E-CD3F-43C2-BBFC-4CA014D0E5C3}"/>
              </a:ext>
            </a:extLst>
          </p:cNvPr>
          <p:cNvSpPr>
            <a:spLocks noGrp="1"/>
          </p:cNvSpPr>
          <p:nvPr/>
        </p:nvSpPr>
        <p:spPr>
          <a:xfrm>
            <a:off x="10363200" y="266700"/>
            <a:ext cx="666750" cy="333375"/>
          </a:xfrm>
          <a:custGeom>
            <a:avLst/>
            <a:gdLst/>
            <a:ahLst/>
            <a:cxnLst/>
            <a:rect l="0" t="0" r="0" b="0"/>
            <a:pathLst>
              <a:path w="666750" h="333375">
                <a:moveTo>
                  <a:pt x="333375" y="0"/>
                </a:moveTo>
                <a:lnTo>
                  <a:pt x="666750" y="166688"/>
                </a:lnTo>
                <a:lnTo>
                  <a:pt x="333375" y="333375"/>
                </a:lnTo>
                <a:lnTo>
                  <a:pt x="0" y="166688"/>
                </a:lnTo>
                <a:close/>
              </a:path>
            </a:pathLst>
          </a:custGeom>
          <a:solidFill>
            <a:srgbClr val="E8F5F1"/>
          </a:solidFill>
          <a:ln w="1714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3" name="path-60">
            <a:extLst>
              <a:ext uri="{FF2B5EF4-FFF2-40B4-BE49-F238E27FC236}">
                <a16:creationId xmlns:a16="http://schemas.microsoft.com/office/drawing/2014/main" id="{CE0354D5-9A34-475C-822B-D1867C618BEE}"/>
              </a:ext>
            </a:extLst>
          </p:cNvPr>
          <p:cNvSpPr>
            <a:spLocks noGrp="1"/>
          </p:cNvSpPr>
          <p:nvPr/>
        </p:nvSpPr>
        <p:spPr>
          <a:xfrm>
            <a:off x="10658951" y="309086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4" name="path-61">
            <a:extLst>
              <a:ext uri="{FF2B5EF4-FFF2-40B4-BE49-F238E27FC236}">
                <a16:creationId xmlns:a16="http://schemas.microsoft.com/office/drawing/2014/main" id="{7605D9E8-CBEB-4390-BFCF-292F89D15C20}"/>
              </a:ext>
            </a:extLst>
          </p:cNvPr>
          <p:cNvSpPr>
            <a:spLocks noGrp="1"/>
          </p:cNvSpPr>
          <p:nvPr/>
        </p:nvSpPr>
        <p:spPr>
          <a:xfrm>
            <a:off x="10597039" y="340043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5" name="path-62">
            <a:extLst>
              <a:ext uri="{FF2B5EF4-FFF2-40B4-BE49-F238E27FC236}">
                <a16:creationId xmlns:a16="http://schemas.microsoft.com/office/drawing/2014/main" id="{08E9B533-932A-416F-93B8-F111E482C490}"/>
              </a:ext>
            </a:extLst>
          </p:cNvPr>
          <p:cNvSpPr>
            <a:spLocks noGrp="1"/>
          </p:cNvSpPr>
          <p:nvPr/>
        </p:nvSpPr>
        <p:spPr>
          <a:xfrm>
            <a:off x="10535126" y="370999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6" name="path-63">
            <a:extLst>
              <a:ext uri="{FF2B5EF4-FFF2-40B4-BE49-F238E27FC236}">
                <a16:creationId xmlns:a16="http://schemas.microsoft.com/office/drawing/2014/main" id="{F1928605-C778-4DF4-BAB3-70E1F95E7995}"/>
              </a:ext>
            </a:extLst>
          </p:cNvPr>
          <p:cNvSpPr>
            <a:spLocks noGrp="1"/>
          </p:cNvSpPr>
          <p:nvPr/>
        </p:nvSpPr>
        <p:spPr>
          <a:xfrm>
            <a:off x="10473214" y="401955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7" name="path-64">
            <a:extLst>
              <a:ext uri="{FF2B5EF4-FFF2-40B4-BE49-F238E27FC236}">
                <a16:creationId xmlns:a16="http://schemas.microsoft.com/office/drawing/2014/main" id="{E286C964-AC16-4F17-8840-065076A2914D}"/>
              </a:ext>
            </a:extLst>
          </p:cNvPr>
          <p:cNvSpPr>
            <a:spLocks noGrp="1"/>
          </p:cNvSpPr>
          <p:nvPr/>
        </p:nvSpPr>
        <p:spPr>
          <a:xfrm>
            <a:off x="10720864" y="340043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8" name="path-65">
            <a:extLst>
              <a:ext uri="{FF2B5EF4-FFF2-40B4-BE49-F238E27FC236}">
                <a16:creationId xmlns:a16="http://schemas.microsoft.com/office/drawing/2014/main" id="{7472C903-2740-44C8-8CB1-AA7284320D9E}"/>
              </a:ext>
            </a:extLst>
          </p:cNvPr>
          <p:cNvSpPr>
            <a:spLocks noGrp="1"/>
          </p:cNvSpPr>
          <p:nvPr/>
        </p:nvSpPr>
        <p:spPr>
          <a:xfrm>
            <a:off x="10658951" y="370999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69" name="path-66">
            <a:extLst>
              <a:ext uri="{FF2B5EF4-FFF2-40B4-BE49-F238E27FC236}">
                <a16:creationId xmlns:a16="http://schemas.microsoft.com/office/drawing/2014/main" id="{4FD19ACE-7D03-4BF6-BBE5-2577B276651C}"/>
              </a:ext>
            </a:extLst>
          </p:cNvPr>
          <p:cNvSpPr>
            <a:spLocks noGrp="1"/>
          </p:cNvSpPr>
          <p:nvPr/>
        </p:nvSpPr>
        <p:spPr>
          <a:xfrm>
            <a:off x="10597039" y="401955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0" name="path-67">
            <a:extLst>
              <a:ext uri="{FF2B5EF4-FFF2-40B4-BE49-F238E27FC236}">
                <a16:creationId xmlns:a16="http://schemas.microsoft.com/office/drawing/2014/main" id="{B758E25C-A963-4E54-8EC9-4010C34B965A}"/>
              </a:ext>
            </a:extLst>
          </p:cNvPr>
          <p:cNvSpPr>
            <a:spLocks noGrp="1"/>
          </p:cNvSpPr>
          <p:nvPr/>
        </p:nvSpPr>
        <p:spPr>
          <a:xfrm>
            <a:off x="10535126" y="432911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1" name="path-68">
            <a:extLst>
              <a:ext uri="{FF2B5EF4-FFF2-40B4-BE49-F238E27FC236}">
                <a16:creationId xmlns:a16="http://schemas.microsoft.com/office/drawing/2014/main" id="{4D55F0F3-969D-4A56-818E-1D97DEBA4974}"/>
              </a:ext>
            </a:extLst>
          </p:cNvPr>
          <p:cNvSpPr>
            <a:spLocks noGrp="1"/>
          </p:cNvSpPr>
          <p:nvPr/>
        </p:nvSpPr>
        <p:spPr>
          <a:xfrm>
            <a:off x="10782776" y="370999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2" name="path-69">
            <a:extLst>
              <a:ext uri="{FF2B5EF4-FFF2-40B4-BE49-F238E27FC236}">
                <a16:creationId xmlns:a16="http://schemas.microsoft.com/office/drawing/2014/main" id="{2A141F93-C12D-478A-B8E4-EC536F1F26FE}"/>
              </a:ext>
            </a:extLst>
          </p:cNvPr>
          <p:cNvSpPr>
            <a:spLocks noGrp="1"/>
          </p:cNvSpPr>
          <p:nvPr/>
        </p:nvSpPr>
        <p:spPr>
          <a:xfrm>
            <a:off x="10720864" y="401955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3" name="path-70">
            <a:extLst>
              <a:ext uri="{FF2B5EF4-FFF2-40B4-BE49-F238E27FC236}">
                <a16:creationId xmlns:a16="http://schemas.microsoft.com/office/drawing/2014/main" id="{957AE015-CDCB-4866-9F93-0358515A0954}"/>
              </a:ext>
            </a:extLst>
          </p:cNvPr>
          <p:cNvSpPr>
            <a:spLocks noGrp="1"/>
          </p:cNvSpPr>
          <p:nvPr/>
        </p:nvSpPr>
        <p:spPr>
          <a:xfrm>
            <a:off x="10658951" y="432911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4" name="path-71">
            <a:extLst>
              <a:ext uri="{FF2B5EF4-FFF2-40B4-BE49-F238E27FC236}">
                <a16:creationId xmlns:a16="http://schemas.microsoft.com/office/drawing/2014/main" id="{BDD26F82-BB9A-4FC4-AFDE-595101A0D5FA}"/>
              </a:ext>
            </a:extLst>
          </p:cNvPr>
          <p:cNvSpPr>
            <a:spLocks noGrp="1"/>
          </p:cNvSpPr>
          <p:nvPr/>
        </p:nvSpPr>
        <p:spPr>
          <a:xfrm>
            <a:off x="10597039" y="463868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5" name="path-72">
            <a:extLst>
              <a:ext uri="{FF2B5EF4-FFF2-40B4-BE49-F238E27FC236}">
                <a16:creationId xmlns:a16="http://schemas.microsoft.com/office/drawing/2014/main" id="{8A33958A-93CA-454E-B672-12AB645668C2}"/>
              </a:ext>
            </a:extLst>
          </p:cNvPr>
          <p:cNvSpPr>
            <a:spLocks noGrp="1"/>
          </p:cNvSpPr>
          <p:nvPr/>
        </p:nvSpPr>
        <p:spPr>
          <a:xfrm>
            <a:off x="10844689" y="401955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6" name="path-73">
            <a:extLst>
              <a:ext uri="{FF2B5EF4-FFF2-40B4-BE49-F238E27FC236}">
                <a16:creationId xmlns:a16="http://schemas.microsoft.com/office/drawing/2014/main" id="{DA872B85-CA52-4A72-A016-53ECC84C490B}"/>
              </a:ext>
            </a:extLst>
          </p:cNvPr>
          <p:cNvSpPr>
            <a:spLocks noGrp="1"/>
          </p:cNvSpPr>
          <p:nvPr/>
        </p:nvSpPr>
        <p:spPr>
          <a:xfrm>
            <a:off x="10782776" y="432911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7" name="path-74">
            <a:extLst>
              <a:ext uri="{FF2B5EF4-FFF2-40B4-BE49-F238E27FC236}">
                <a16:creationId xmlns:a16="http://schemas.microsoft.com/office/drawing/2014/main" id="{C70B601B-7A5F-43F9-A0D0-77830357F1A4}"/>
              </a:ext>
            </a:extLst>
          </p:cNvPr>
          <p:cNvSpPr>
            <a:spLocks noGrp="1"/>
          </p:cNvSpPr>
          <p:nvPr/>
        </p:nvSpPr>
        <p:spPr>
          <a:xfrm>
            <a:off x="10720864" y="463868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8" name="path-75">
            <a:extLst>
              <a:ext uri="{FF2B5EF4-FFF2-40B4-BE49-F238E27FC236}">
                <a16:creationId xmlns:a16="http://schemas.microsoft.com/office/drawing/2014/main" id="{9805CD42-8293-437F-AC76-039297DD3519}"/>
              </a:ext>
            </a:extLst>
          </p:cNvPr>
          <p:cNvSpPr>
            <a:spLocks noGrp="1"/>
          </p:cNvSpPr>
          <p:nvPr/>
        </p:nvSpPr>
        <p:spPr>
          <a:xfrm>
            <a:off x="10658951" y="494824"/>
            <a:ext cx="75248" cy="39052"/>
          </a:xfrm>
          <a:custGeom>
            <a:avLst/>
            <a:gdLst/>
            <a:ahLst/>
            <a:cxnLst/>
            <a:rect l="0" t="0" r="0" b="0"/>
            <a:pathLst>
              <a:path w="75248" h="39052">
                <a:moveTo>
                  <a:pt x="37624" y="0"/>
                </a:moveTo>
                <a:lnTo>
                  <a:pt x="75248" y="19526"/>
                </a:lnTo>
                <a:lnTo>
                  <a:pt x="37624" y="39052"/>
                </a:lnTo>
                <a:lnTo>
                  <a:pt x="0" y="19526"/>
                </a:lnTo>
                <a:close/>
              </a:path>
            </a:pathLst>
          </a:custGeom>
          <a:solidFill>
            <a:srgbClr val="218A83"/>
          </a:solidFill>
          <a:ln w="762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79" name="vector-76">
            <a:extLst>
              <a:ext uri="{FF2B5EF4-FFF2-40B4-BE49-F238E27FC236}">
                <a16:creationId xmlns:a16="http://schemas.microsoft.com/office/drawing/2014/main" id="{69DAB021-412D-42D3-8E5D-C56F968FDD5C}"/>
              </a:ext>
            </a:extLst>
          </p:cNvPr>
          <p:cNvSpPr>
            <a:spLocks noGrp="1"/>
          </p:cNvSpPr>
          <p:nvPr/>
        </p:nvSpPr>
        <p:spPr>
          <a:xfrm>
            <a:off x="11105674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0" name="vector-77">
            <a:extLst>
              <a:ext uri="{FF2B5EF4-FFF2-40B4-BE49-F238E27FC236}">
                <a16:creationId xmlns:a16="http://schemas.microsoft.com/office/drawing/2014/main" id="{F9642DBE-D71A-4ACC-B0B8-4F94E35B048C}"/>
              </a:ext>
            </a:extLst>
          </p:cNvPr>
          <p:cNvSpPr>
            <a:spLocks noGrp="1"/>
          </p:cNvSpPr>
          <p:nvPr/>
        </p:nvSpPr>
        <p:spPr>
          <a:xfrm>
            <a:off x="11400949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11" name="Straight Arrow Connector 310"/>
          <p:cNvCxnSpPr>
            <a:stCxn id="79" idx="3"/>
            <a:endCxn id="80" idx="1"/>
          </p:cNvCxnSpPr>
          <p:nvPr/>
        </p:nvCxnSpPr>
        <p:spPr>
          <a:xfrm>
            <a:off x="11106627" y="485776"/>
            <a:ext cx="294322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82" name="vector-78">
            <a:extLst>
              <a:ext uri="{FF2B5EF4-FFF2-40B4-BE49-F238E27FC236}">
                <a16:creationId xmlns:a16="http://schemas.microsoft.com/office/drawing/2014/main" id="{DD8F904D-B062-4229-84B5-9E60369F39C9}"/>
              </a:ext>
            </a:extLst>
          </p:cNvPr>
          <p:cNvSpPr>
            <a:spLocks noGrp="1"/>
          </p:cNvSpPr>
          <p:nvPr/>
        </p:nvSpPr>
        <p:spPr>
          <a:xfrm>
            <a:off x="11401425" y="295275"/>
            <a:ext cx="381000" cy="38100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83" name="vector-79">
            <a:extLst>
              <a:ext uri="{FF2B5EF4-FFF2-40B4-BE49-F238E27FC236}">
                <a16:creationId xmlns:a16="http://schemas.microsoft.com/office/drawing/2014/main" id="{36CEF19F-14D2-40FD-B83D-343516575A46}"/>
              </a:ext>
            </a:extLst>
          </p:cNvPr>
          <p:cNvSpPr>
            <a:spLocks noGrp="1"/>
          </p:cNvSpPr>
          <p:nvPr/>
        </p:nvSpPr>
        <p:spPr>
          <a:xfrm>
            <a:off x="11410950" y="342900"/>
            <a:ext cx="36195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fθ</a:t>
            </a:r>
          </a:p>
        </p:txBody>
      </p:sp>
      <p:sp>
        <p:nvSpPr>
          <p:cNvPr id="84" name="vector-80">
            <a:extLst>
              <a:ext uri="{FF2B5EF4-FFF2-40B4-BE49-F238E27FC236}">
                <a16:creationId xmlns:a16="http://schemas.microsoft.com/office/drawing/2014/main" id="{CFF00970-88F3-4FB3-B92D-DDE0A84936CA}"/>
              </a:ext>
            </a:extLst>
          </p:cNvPr>
          <p:cNvSpPr>
            <a:spLocks noGrp="1"/>
          </p:cNvSpPr>
          <p:nvPr/>
        </p:nvSpPr>
        <p:spPr>
          <a:xfrm>
            <a:off x="11800999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5" name="vector-81">
            <a:extLst>
              <a:ext uri="{FF2B5EF4-FFF2-40B4-BE49-F238E27FC236}">
                <a16:creationId xmlns:a16="http://schemas.microsoft.com/office/drawing/2014/main" id="{2CC4DE52-591B-4A12-ABFA-4AEA42BA750D}"/>
              </a:ext>
            </a:extLst>
          </p:cNvPr>
          <p:cNvSpPr>
            <a:spLocks noGrp="1"/>
          </p:cNvSpPr>
          <p:nvPr/>
        </p:nvSpPr>
        <p:spPr>
          <a:xfrm>
            <a:off x="12020074" y="4852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16" name="Straight Arrow Connector 315"/>
          <p:cNvCxnSpPr>
            <a:stCxn id="84" idx="3"/>
            <a:endCxn id="85" idx="1"/>
          </p:cNvCxnSpPr>
          <p:nvPr/>
        </p:nvCxnSpPr>
        <p:spPr>
          <a:xfrm>
            <a:off x="11801952" y="485776"/>
            <a:ext cx="218122" cy="0"/>
          </a:xfrm>
          <a:prstGeom prst="straightConnector1">
            <a:avLst/>
          </a:prstGeom>
          <a:ln w="17145">
            <a:solidFill>
              <a:srgbClr val="8B6BB4"/>
            </a:solidFill>
            <a:tailEnd type="triangle" w="sm" len="sm"/>
          </a:ln>
        </p:spPr>
      </p:cxnSp>
      <p:sp>
        <p:nvSpPr>
          <p:cNvPr id="87" name="vector-82">
            <a:extLst>
              <a:ext uri="{FF2B5EF4-FFF2-40B4-BE49-F238E27FC236}">
                <a16:creationId xmlns:a16="http://schemas.microsoft.com/office/drawing/2014/main" id="{67D3CD8F-85FE-4C8D-9E7B-6B0C01F8D19B}"/>
              </a:ext>
            </a:extLst>
          </p:cNvPr>
          <p:cNvSpPr>
            <a:spLocks noGrp="1"/>
          </p:cNvSpPr>
          <p:nvPr/>
        </p:nvSpPr>
        <p:spPr>
          <a:xfrm>
            <a:off x="12115800" y="314325"/>
            <a:ext cx="285750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8" name="vector-83">
            <a:extLst>
              <a:ext uri="{FF2B5EF4-FFF2-40B4-BE49-F238E27FC236}">
                <a16:creationId xmlns:a16="http://schemas.microsoft.com/office/drawing/2014/main" id="{FB5AAC8D-1CA8-4AFE-A6CF-8326EC92615E}"/>
              </a:ext>
            </a:extLst>
          </p:cNvPr>
          <p:cNvSpPr>
            <a:spLocks noGrp="1"/>
          </p:cNvSpPr>
          <p:nvPr/>
        </p:nvSpPr>
        <p:spPr>
          <a:xfrm>
            <a:off x="12115800" y="447675"/>
            <a:ext cx="542925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9" name="vector-84">
            <a:extLst>
              <a:ext uri="{FF2B5EF4-FFF2-40B4-BE49-F238E27FC236}">
                <a16:creationId xmlns:a16="http://schemas.microsoft.com/office/drawing/2014/main" id="{70FF1FED-BD59-4D6E-80B2-9CC4C78B0BCB}"/>
              </a:ext>
            </a:extLst>
          </p:cNvPr>
          <p:cNvSpPr>
            <a:spLocks noGrp="1"/>
          </p:cNvSpPr>
          <p:nvPr/>
        </p:nvSpPr>
        <p:spPr>
          <a:xfrm>
            <a:off x="12115800" y="581025"/>
            <a:ext cx="171450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90" name="vector-85">
            <a:extLst>
              <a:ext uri="{FF2B5EF4-FFF2-40B4-BE49-F238E27FC236}">
                <a16:creationId xmlns:a16="http://schemas.microsoft.com/office/drawing/2014/main" id="{21B5BE7F-6C01-47AE-BB15-3ED5774AF0D8}"/>
              </a:ext>
            </a:extLst>
          </p:cNvPr>
          <p:cNvSpPr>
            <a:spLocks noGrp="1"/>
          </p:cNvSpPr>
          <p:nvPr/>
        </p:nvSpPr>
        <p:spPr>
          <a:xfrm>
            <a:off x="9953625" y="876300"/>
            <a:ext cx="3143250" cy="3048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8323E"/>
                </a:solidFill>
                <a:latin typeface="Arial"/>
                <a:ea typeface="Arial"/>
                <a:cs typeface="Arial"/>
              </a:rPr>
              <a:t>Head on NAR</a:t>
            </a:r>
          </a:p>
        </p:txBody>
      </p:sp>
      <p:sp>
        <p:nvSpPr>
          <p:cNvPr id="91" name="path-86">
            <a:extLst>
              <a:ext uri="{FF2B5EF4-FFF2-40B4-BE49-F238E27FC236}">
                <a16:creationId xmlns:a16="http://schemas.microsoft.com/office/drawing/2014/main" id="{15E5D897-D714-41E5-910B-AFD0A2A7ED6A}"/>
              </a:ext>
            </a:extLst>
          </p:cNvPr>
          <p:cNvSpPr>
            <a:spLocks noGrp="1"/>
          </p:cNvSpPr>
          <p:nvPr/>
        </p:nvSpPr>
        <p:spPr>
          <a:xfrm>
            <a:off x="11525250" y="1257300"/>
            <a:ext cx="953" cy="180975"/>
          </a:xfrm>
          <a:custGeom>
            <a:avLst/>
            <a:gdLst/>
            <a:ahLst/>
            <a:cxnLst/>
            <a:rect l="0" t="0" r="0" b="0"/>
            <a:pathLst>
              <a:path w="953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2" name="path-87">
            <a:extLst>
              <a:ext uri="{FF2B5EF4-FFF2-40B4-BE49-F238E27FC236}">
                <a16:creationId xmlns:a16="http://schemas.microsoft.com/office/drawing/2014/main" id="{2DC0797F-A047-45C0-8A5C-0625B07F54B7}"/>
              </a:ext>
            </a:extLst>
          </p:cNvPr>
          <p:cNvSpPr>
            <a:spLocks noGrp="1"/>
          </p:cNvSpPr>
          <p:nvPr/>
        </p:nvSpPr>
        <p:spPr>
          <a:xfrm>
            <a:off x="3714750" y="1438275"/>
            <a:ext cx="7810500" cy="953"/>
          </a:xfrm>
          <a:custGeom>
            <a:avLst/>
            <a:gdLst/>
            <a:ahLst/>
            <a:cxnLst/>
            <a:rect l="0" t="0" r="0" b="0"/>
            <a:pathLst>
              <a:path w="7810500" h="953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3" name="vector-88">
            <a:extLst>
              <a:ext uri="{FF2B5EF4-FFF2-40B4-BE49-F238E27FC236}">
                <a16:creationId xmlns:a16="http://schemas.microsoft.com/office/drawing/2014/main" id="{9152D53F-47EB-4345-ADD2-863B38C26069}"/>
              </a:ext>
            </a:extLst>
          </p:cNvPr>
          <p:cNvSpPr>
            <a:spLocks noGrp="1"/>
          </p:cNvSpPr>
          <p:nvPr/>
        </p:nvSpPr>
        <p:spPr>
          <a:xfrm>
            <a:off x="7619524" y="14377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94" name="vector-89">
            <a:extLst>
              <a:ext uri="{FF2B5EF4-FFF2-40B4-BE49-F238E27FC236}">
                <a16:creationId xmlns:a16="http://schemas.microsoft.com/office/drawing/2014/main" id="{78506A37-B858-4F5E-AD8D-97E81927BAE8}"/>
              </a:ext>
            </a:extLst>
          </p:cNvPr>
          <p:cNvSpPr>
            <a:spLocks noGrp="1"/>
          </p:cNvSpPr>
          <p:nvPr/>
        </p:nvSpPr>
        <p:spPr>
          <a:xfrm>
            <a:off x="7619524" y="16759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25" name="Straight Arrow Connector 324"/>
          <p:cNvCxnSpPr>
            <a:stCxn id="93" idx="2"/>
            <a:endCxn id="94" idx="0"/>
          </p:cNvCxnSpPr>
          <p:nvPr/>
        </p:nvCxnSpPr>
        <p:spPr>
          <a:xfrm>
            <a:off x="7620001" y="1438752"/>
            <a:ext cx="0" cy="237172"/>
          </a:xfrm>
          <a:prstGeom prst="straightConnector1">
            <a:avLst/>
          </a:prstGeom>
          <a:ln w="17145">
            <a:solidFill>
              <a:srgbClr val="AEB7C2"/>
            </a:solidFill>
            <a:tailEnd type="triangle" w="sm" len="sm"/>
          </a:ln>
        </p:spPr>
      </p:cxnSp>
      <p:sp>
        <p:nvSpPr>
          <p:cNvPr id="96" name="vector-90">
            <a:extLst>
              <a:ext uri="{FF2B5EF4-FFF2-40B4-BE49-F238E27FC236}">
                <a16:creationId xmlns:a16="http://schemas.microsoft.com/office/drawing/2014/main" id="{4710AEEB-003A-4A5E-A7C8-3366D8CF9397}"/>
              </a:ext>
            </a:extLst>
          </p:cNvPr>
          <p:cNvSpPr>
            <a:spLocks noGrp="1"/>
          </p:cNvSpPr>
          <p:nvPr/>
        </p:nvSpPr>
        <p:spPr>
          <a:xfrm>
            <a:off x="4743450" y="1504950"/>
            <a:ext cx="2238375" cy="2476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any one interface</a:t>
            </a:r>
          </a:p>
        </p:txBody>
      </p:sp>
      <p:sp>
        <p:nvSpPr>
          <p:cNvPr id="97" name="path-91">
            <a:extLst>
              <a:ext uri="{FF2B5EF4-FFF2-40B4-BE49-F238E27FC236}">
                <a16:creationId xmlns:a16="http://schemas.microsoft.com/office/drawing/2014/main" id="{688D8626-8A49-4DD4-9B7F-450AEAEC39F9}"/>
              </a:ext>
            </a:extLst>
          </p:cNvPr>
          <p:cNvSpPr>
            <a:spLocks noGrp="1"/>
          </p:cNvSpPr>
          <p:nvPr/>
        </p:nvSpPr>
        <p:spPr>
          <a:xfrm>
            <a:off x="7067550" y="1771650"/>
            <a:ext cx="95250" cy="533400"/>
          </a:xfrm>
          <a:custGeom>
            <a:avLst/>
            <a:gdLst/>
            <a:ahLst/>
            <a:cxnLst/>
            <a:rect l="0" t="0" r="0" b="0"/>
            <a:pathLst>
              <a:path w="95250" h="533400">
                <a:moveTo>
                  <a:pt x="95250" y="0"/>
                </a:moveTo>
                <a:lnTo>
                  <a:pt x="0" y="0"/>
                </a:lnTo>
                <a:lnTo>
                  <a:pt x="0" y="533400"/>
                </a:lnTo>
                <a:lnTo>
                  <a:pt x="95250" y="533400"/>
                </a:lnTo>
              </a:path>
            </a:pathLst>
          </a:custGeom>
          <a:noFill/>
          <a:ln w="17145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8" name="vector-92">
            <a:extLst>
              <a:ext uri="{FF2B5EF4-FFF2-40B4-BE49-F238E27FC236}">
                <a16:creationId xmlns:a16="http://schemas.microsoft.com/office/drawing/2014/main" id="{DCB435BD-C343-44C2-8EB5-29381587E576}"/>
              </a:ext>
            </a:extLst>
          </p:cNvPr>
          <p:cNvSpPr>
            <a:spLocks noGrp="1"/>
          </p:cNvSpPr>
          <p:nvPr/>
        </p:nvSpPr>
        <p:spPr>
          <a:xfrm>
            <a:off x="7315200" y="1819275"/>
            <a:ext cx="285750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99" name="vector-93">
            <a:extLst>
              <a:ext uri="{FF2B5EF4-FFF2-40B4-BE49-F238E27FC236}">
                <a16:creationId xmlns:a16="http://schemas.microsoft.com/office/drawing/2014/main" id="{65C4DD95-2768-416C-B56D-6ACF489564BA}"/>
              </a:ext>
            </a:extLst>
          </p:cNvPr>
          <p:cNvSpPr>
            <a:spLocks noGrp="1"/>
          </p:cNvSpPr>
          <p:nvPr/>
        </p:nvSpPr>
        <p:spPr>
          <a:xfrm>
            <a:off x="7315200" y="1952625"/>
            <a:ext cx="542925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0" name="vector-94">
            <a:extLst>
              <a:ext uri="{FF2B5EF4-FFF2-40B4-BE49-F238E27FC236}">
                <a16:creationId xmlns:a16="http://schemas.microsoft.com/office/drawing/2014/main" id="{119423D9-53EA-4037-A76E-09E817CC392D}"/>
              </a:ext>
            </a:extLst>
          </p:cNvPr>
          <p:cNvSpPr>
            <a:spLocks noGrp="1"/>
          </p:cNvSpPr>
          <p:nvPr/>
        </p:nvSpPr>
        <p:spPr>
          <a:xfrm>
            <a:off x="7315200" y="2085975"/>
            <a:ext cx="171450" cy="76200"/>
          </a:xfrm>
          <a:prstGeom prst="roundRect">
            <a:avLst>
              <a:gd name="adj" fmla="val 50000"/>
            </a:avLst>
          </a:prstGeom>
          <a:solidFill>
            <a:srgbClr val="8B6BB4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1" name="path-95">
            <a:extLst>
              <a:ext uri="{FF2B5EF4-FFF2-40B4-BE49-F238E27FC236}">
                <a16:creationId xmlns:a16="http://schemas.microsoft.com/office/drawing/2014/main" id="{9011058F-815C-4703-B229-AA5A0B0CE0B1}"/>
              </a:ext>
            </a:extLst>
          </p:cNvPr>
          <p:cNvSpPr>
            <a:spLocks noGrp="1"/>
          </p:cNvSpPr>
          <p:nvPr/>
        </p:nvSpPr>
        <p:spPr>
          <a:xfrm>
            <a:off x="8020050" y="1771650"/>
            <a:ext cx="95250" cy="533400"/>
          </a:xfrm>
          <a:custGeom>
            <a:avLst/>
            <a:gdLst/>
            <a:ahLst/>
            <a:cxnLst/>
            <a:rect l="0" t="0" r="0" b="0"/>
            <a:pathLst>
              <a:path w="95250" h="533400">
                <a:moveTo>
                  <a:pt x="0" y="0"/>
                </a:moveTo>
                <a:lnTo>
                  <a:pt x="95250" y="0"/>
                </a:lnTo>
                <a:lnTo>
                  <a:pt x="95250" y="533400"/>
                </a:lnTo>
                <a:lnTo>
                  <a:pt x="0" y="533400"/>
                </a:lnTo>
              </a:path>
            </a:pathLst>
          </a:custGeom>
          <a:noFill/>
          <a:ln w="17145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2" name="vector-96">
            <a:extLst>
              <a:ext uri="{FF2B5EF4-FFF2-40B4-BE49-F238E27FC236}">
                <a16:creationId xmlns:a16="http://schemas.microsoft.com/office/drawing/2014/main" id="{CBBA1E7C-BC2D-47B5-A334-5BB288EE170B}"/>
              </a:ext>
            </a:extLst>
          </p:cNvPr>
          <p:cNvSpPr>
            <a:spLocks noGrp="1"/>
          </p:cNvSpPr>
          <p:nvPr/>
        </p:nvSpPr>
        <p:spPr>
          <a:xfrm>
            <a:off x="8458200" y="1743075"/>
            <a:ext cx="2238375" cy="3238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p = (p₁, …, pₖ)</a:t>
            </a:r>
          </a:p>
        </p:txBody>
      </p:sp>
      <p:sp>
        <p:nvSpPr>
          <p:cNvPr id="103" name="vector-97">
            <a:extLst>
              <a:ext uri="{FF2B5EF4-FFF2-40B4-BE49-F238E27FC236}">
                <a16:creationId xmlns:a16="http://schemas.microsoft.com/office/drawing/2014/main" id="{C06C2C2C-448E-4493-B48B-D2C5F795806E}"/>
              </a:ext>
            </a:extLst>
          </p:cNvPr>
          <p:cNvSpPr>
            <a:spLocks noGrp="1"/>
          </p:cNvSpPr>
          <p:nvPr/>
        </p:nvSpPr>
        <p:spPr>
          <a:xfrm>
            <a:off x="8448675" y="2085975"/>
            <a:ext cx="2381250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candidate probabilities</a:t>
            </a:r>
          </a:p>
        </p:txBody>
      </p:sp>
      <p:sp>
        <p:nvSpPr>
          <p:cNvPr id="104" name="path-98">
            <a:extLst>
              <a:ext uri="{FF2B5EF4-FFF2-40B4-BE49-F238E27FC236}">
                <a16:creationId xmlns:a16="http://schemas.microsoft.com/office/drawing/2014/main" id="{83EA96E7-A025-4C36-A487-EEE85387987C}"/>
              </a:ext>
            </a:extLst>
          </p:cNvPr>
          <p:cNvSpPr>
            <a:spLocks noGrp="1"/>
          </p:cNvSpPr>
          <p:nvPr/>
        </p:nvSpPr>
        <p:spPr>
          <a:xfrm>
            <a:off x="7620000" y="2390775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5" name="path-99">
            <a:extLst>
              <a:ext uri="{FF2B5EF4-FFF2-40B4-BE49-F238E27FC236}">
                <a16:creationId xmlns:a16="http://schemas.microsoft.com/office/drawing/2014/main" id="{A757D8C4-1D0E-41C3-9C15-FBD2B9841245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7715250" cy="953"/>
          </a:xfrm>
          <a:custGeom>
            <a:avLst/>
            <a:gdLst/>
            <a:ahLst/>
            <a:cxnLst/>
            <a:rect l="0" t="0" r="0" b="0"/>
            <a:pathLst>
              <a:path w="7715250" h="953">
                <a:moveTo>
                  <a:pt x="0" y="0"/>
                </a:moveTo>
                <a:lnTo>
                  <a:pt x="7715250" y="0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6" name="vector-100">
            <a:extLst>
              <a:ext uri="{FF2B5EF4-FFF2-40B4-BE49-F238E27FC236}">
                <a16:creationId xmlns:a16="http://schemas.microsoft.com/office/drawing/2014/main" id="{949A60FF-F615-4547-9D93-E508EA292295}"/>
              </a:ext>
            </a:extLst>
          </p:cNvPr>
          <p:cNvSpPr>
            <a:spLocks noGrp="1"/>
          </p:cNvSpPr>
          <p:nvPr/>
        </p:nvSpPr>
        <p:spPr>
          <a:xfrm>
            <a:off x="3047524" y="26284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7" name="vector-101">
            <a:extLst>
              <a:ext uri="{FF2B5EF4-FFF2-40B4-BE49-F238E27FC236}">
                <a16:creationId xmlns:a16="http://schemas.microsoft.com/office/drawing/2014/main" id="{D6572B4E-CFFD-4C91-9B3E-3AB820B9AC84}"/>
              </a:ext>
            </a:extLst>
          </p:cNvPr>
          <p:cNvSpPr>
            <a:spLocks noGrp="1"/>
          </p:cNvSpPr>
          <p:nvPr/>
        </p:nvSpPr>
        <p:spPr>
          <a:xfrm>
            <a:off x="3047524" y="29236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38" name="Straight Arrow Connector 337"/>
          <p:cNvCxnSpPr>
            <a:stCxn id="106" idx="2"/>
            <a:endCxn id="107" idx="0"/>
          </p:cNvCxnSpPr>
          <p:nvPr/>
        </p:nvCxnSpPr>
        <p:spPr>
          <a:xfrm>
            <a:off x="3048001" y="2629377"/>
            <a:ext cx="0" cy="294322"/>
          </a:xfrm>
          <a:prstGeom prst="straightConnector1">
            <a:avLst/>
          </a:prstGeom>
          <a:ln w="17145">
            <a:solidFill>
              <a:srgbClr val="AEB7C2"/>
            </a:solidFill>
            <a:tailEnd type="triangle" w="sm" len="sm"/>
          </a:ln>
        </p:spPr>
      </p:cxnSp>
      <p:sp>
        <p:nvSpPr>
          <p:cNvPr id="109" name="vector-102">
            <a:extLst>
              <a:ext uri="{FF2B5EF4-FFF2-40B4-BE49-F238E27FC236}">
                <a16:creationId xmlns:a16="http://schemas.microsoft.com/office/drawing/2014/main" id="{89CEA032-25B1-4BB7-8C14-CE3BC12A1F81}"/>
              </a:ext>
            </a:extLst>
          </p:cNvPr>
          <p:cNvSpPr>
            <a:spLocks noGrp="1"/>
          </p:cNvSpPr>
          <p:nvPr/>
        </p:nvSpPr>
        <p:spPr>
          <a:xfrm>
            <a:off x="10762774" y="26284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0" name="vector-103">
            <a:extLst>
              <a:ext uri="{FF2B5EF4-FFF2-40B4-BE49-F238E27FC236}">
                <a16:creationId xmlns:a16="http://schemas.microsoft.com/office/drawing/2014/main" id="{9AC5231C-59C5-4696-8055-75DF697D9571}"/>
              </a:ext>
            </a:extLst>
          </p:cNvPr>
          <p:cNvSpPr>
            <a:spLocks noGrp="1"/>
          </p:cNvSpPr>
          <p:nvPr/>
        </p:nvSpPr>
        <p:spPr>
          <a:xfrm>
            <a:off x="10762774" y="29236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41" name="Straight Arrow Connector 340"/>
          <p:cNvCxnSpPr>
            <a:stCxn id="109" idx="2"/>
            <a:endCxn id="110" idx="0"/>
          </p:cNvCxnSpPr>
          <p:nvPr/>
        </p:nvCxnSpPr>
        <p:spPr>
          <a:xfrm>
            <a:off x="10763251" y="2629377"/>
            <a:ext cx="0" cy="294322"/>
          </a:xfrm>
          <a:prstGeom prst="straightConnector1">
            <a:avLst/>
          </a:prstGeom>
          <a:ln w="17145">
            <a:solidFill>
              <a:srgbClr val="AEB7C2"/>
            </a:solidFill>
            <a:tailEnd type="triangle" w="sm" len="sm"/>
          </a:ln>
        </p:spPr>
      </p:cxnSp>
      <p:sp>
        <p:nvSpPr>
          <p:cNvPr id="112" name="vector-104">
            <a:extLst>
              <a:ext uri="{FF2B5EF4-FFF2-40B4-BE49-F238E27FC236}">
                <a16:creationId xmlns:a16="http://schemas.microsoft.com/office/drawing/2014/main" id="{6E02FD3B-3C26-42D2-BAE1-18C450FA2122}"/>
              </a:ext>
            </a:extLst>
          </p:cNvPr>
          <p:cNvSpPr>
            <a:spLocks noGrp="1"/>
          </p:cNvSpPr>
          <p:nvPr/>
        </p:nvSpPr>
        <p:spPr>
          <a:xfrm>
            <a:off x="552450" y="3057525"/>
            <a:ext cx="6619875" cy="3714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(a) Routing Post-hoc TTA</a:t>
            </a:r>
          </a:p>
        </p:txBody>
      </p:sp>
      <p:sp>
        <p:nvSpPr>
          <p:cNvPr id="113" name="vector-105">
            <a:extLst>
              <a:ext uri="{FF2B5EF4-FFF2-40B4-BE49-F238E27FC236}">
                <a16:creationId xmlns:a16="http://schemas.microsoft.com/office/drawing/2014/main" id="{94008DE4-53DC-44B5-947F-33D5678EB4EA}"/>
              </a:ext>
            </a:extLst>
          </p:cNvPr>
          <p:cNvSpPr>
            <a:spLocks noGrp="1"/>
          </p:cNvSpPr>
          <p:nvPr/>
        </p:nvSpPr>
        <p:spPr>
          <a:xfrm>
            <a:off x="8058150" y="3057525"/>
            <a:ext cx="6715125" cy="3714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(b) Conformal Post-hoc TTA</a:t>
            </a:r>
          </a:p>
        </p:txBody>
      </p:sp>
      <p:sp>
        <p:nvSpPr>
          <p:cNvPr id="114" name="path-106">
            <a:extLst>
              <a:ext uri="{FF2B5EF4-FFF2-40B4-BE49-F238E27FC236}">
                <a16:creationId xmlns:a16="http://schemas.microsoft.com/office/drawing/2014/main" id="{5235F316-231B-44C1-9BD2-135F7F7628A6}"/>
              </a:ext>
            </a:extLst>
          </p:cNvPr>
          <p:cNvSpPr>
            <a:spLocks noGrp="1"/>
          </p:cNvSpPr>
          <p:nvPr/>
        </p:nvSpPr>
        <p:spPr>
          <a:xfrm>
            <a:off x="7620000" y="3076575"/>
            <a:ext cx="953" cy="4257675"/>
          </a:xfrm>
          <a:custGeom>
            <a:avLst/>
            <a:gdLst/>
            <a:ahLst/>
            <a:cxnLst/>
            <a:rect l="0" t="0" r="0" b="0"/>
            <a:pathLst>
              <a:path w="953" h="4257675">
                <a:moveTo>
                  <a:pt x="0" y="0"/>
                </a:moveTo>
                <a:lnTo>
                  <a:pt x="0" y="4257675"/>
                </a:lnTo>
              </a:path>
            </a:pathLst>
          </a:custGeom>
          <a:noFill/>
          <a:ln w="11430">
            <a:solidFill>
              <a:srgbClr val="E7EBF0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5" name="vector-107">
            <a:extLst>
              <a:ext uri="{FF2B5EF4-FFF2-40B4-BE49-F238E27FC236}">
                <a16:creationId xmlns:a16="http://schemas.microsoft.com/office/drawing/2014/main" id="{6AC2CF25-2BE6-48F9-9CA6-9ED9D68A611F}"/>
              </a:ext>
            </a:extLst>
          </p:cNvPr>
          <p:cNvSpPr>
            <a:spLocks noGrp="1"/>
          </p:cNvSpPr>
          <p:nvPr/>
        </p:nvSpPr>
        <p:spPr>
          <a:xfrm>
            <a:off x="1609725" y="3914775"/>
            <a:ext cx="838200" cy="838200"/>
          </a:xfrm>
          <a:prstGeom prst="ellipse">
            <a:avLst/>
          </a:prstGeom>
          <a:solidFill>
            <a:srgbClr val="EFF4FC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6" name="path-108">
            <a:extLst>
              <a:ext uri="{FF2B5EF4-FFF2-40B4-BE49-F238E27FC236}">
                <a16:creationId xmlns:a16="http://schemas.microsoft.com/office/drawing/2014/main" id="{6D3AAB6E-6C21-4CED-ACD2-1701A59611A3}"/>
              </a:ext>
            </a:extLst>
          </p:cNvPr>
          <p:cNvSpPr>
            <a:spLocks noGrp="1"/>
          </p:cNvSpPr>
          <p:nvPr/>
        </p:nvSpPr>
        <p:spPr>
          <a:xfrm>
            <a:off x="1714500" y="4095750"/>
            <a:ext cx="552450" cy="333375"/>
          </a:xfrm>
          <a:custGeom>
            <a:avLst/>
            <a:gdLst/>
            <a:ahLst/>
            <a:cxnLst/>
            <a:rect l="0" t="0" r="0" b="0"/>
            <a:pathLst>
              <a:path w="552450" h="333375">
                <a:moveTo>
                  <a:pt x="0" y="333375"/>
                </a:moveTo>
                <a:lnTo>
                  <a:pt x="28575" y="180975"/>
                </a:lnTo>
                <a:lnTo>
                  <a:pt x="123825" y="57150"/>
                </a:lnTo>
                <a:lnTo>
                  <a:pt x="276225" y="0"/>
                </a:lnTo>
                <a:lnTo>
                  <a:pt x="428625" y="47625"/>
                </a:lnTo>
                <a:lnTo>
                  <a:pt x="552450" y="171450"/>
                </a:lnTo>
              </a:path>
            </a:pathLst>
          </a:custGeom>
          <a:noFill/>
          <a:ln w="1905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7" name="path-109">
            <a:extLst>
              <a:ext uri="{FF2B5EF4-FFF2-40B4-BE49-F238E27FC236}">
                <a16:creationId xmlns:a16="http://schemas.microsoft.com/office/drawing/2014/main" id="{CB4648D6-5E44-4024-95FC-582C34F1D9F4}"/>
              </a:ext>
            </a:extLst>
          </p:cNvPr>
          <p:cNvSpPr>
            <a:spLocks noGrp="1"/>
          </p:cNvSpPr>
          <p:nvPr/>
        </p:nvSpPr>
        <p:spPr>
          <a:xfrm>
            <a:off x="2019300" y="4200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17145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8" name="vector-110">
            <a:extLst>
              <a:ext uri="{FF2B5EF4-FFF2-40B4-BE49-F238E27FC236}">
                <a16:creationId xmlns:a16="http://schemas.microsoft.com/office/drawing/2014/main" id="{890AD1AA-47AC-4D65-9300-E7965913A3FD}"/>
              </a:ext>
            </a:extLst>
          </p:cNvPr>
          <p:cNvSpPr>
            <a:spLocks noGrp="1"/>
          </p:cNvSpPr>
          <p:nvPr/>
        </p:nvSpPr>
        <p:spPr>
          <a:xfrm>
            <a:off x="1981200" y="4333875"/>
            <a:ext cx="76200" cy="76200"/>
          </a:xfrm>
          <a:prstGeom prst="ellipse">
            <a:avLst/>
          </a:prstGeom>
          <a:solidFill>
            <a:srgbClr val="4A73BC"/>
          </a:solidFill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9" name="vector-111">
            <a:extLst>
              <a:ext uri="{FF2B5EF4-FFF2-40B4-BE49-F238E27FC236}">
                <a16:creationId xmlns:a16="http://schemas.microsoft.com/office/drawing/2014/main" id="{76AD9583-3F8A-4ADF-A6CC-D159370E52F9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2743200" cy="2762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confidence / margin</a:t>
            </a:r>
          </a:p>
        </p:txBody>
      </p:sp>
      <p:sp>
        <p:nvSpPr>
          <p:cNvPr id="120" name="vector-112">
            <a:extLst>
              <a:ext uri="{FF2B5EF4-FFF2-40B4-BE49-F238E27FC236}">
                <a16:creationId xmlns:a16="http://schemas.microsoft.com/office/drawing/2014/main" id="{2F97B34E-EBD9-41D8-A688-AC2BA991456A}"/>
              </a:ext>
            </a:extLst>
          </p:cNvPr>
          <p:cNvSpPr>
            <a:spLocks noGrp="1"/>
          </p:cNvSpPr>
          <p:nvPr/>
        </p:nvSpPr>
        <p:spPr>
          <a:xfrm>
            <a:off x="457200" y="5219700"/>
            <a:ext cx="3105150" cy="2762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max p(T)  or  p₍₁₎ − p₍₂₎</a:t>
            </a:r>
          </a:p>
        </p:txBody>
      </p:sp>
      <p:sp>
        <p:nvSpPr>
          <p:cNvPr id="121" name="vector-113">
            <a:extLst>
              <a:ext uri="{FF2B5EF4-FFF2-40B4-BE49-F238E27FC236}">
                <a16:creationId xmlns:a16="http://schemas.microsoft.com/office/drawing/2014/main" id="{A3419405-7737-4E93-A6B0-776DAA446033}"/>
              </a:ext>
            </a:extLst>
          </p:cNvPr>
          <p:cNvSpPr>
            <a:spLocks noGrp="1"/>
          </p:cNvSpPr>
          <p:nvPr/>
        </p:nvSpPr>
        <p:spPr>
          <a:xfrm>
            <a:off x="2504599" y="43333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22" name="vector-114">
            <a:extLst>
              <a:ext uri="{FF2B5EF4-FFF2-40B4-BE49-F238E27FC236}">
                <a16:creationId xmlns:a16="http://schemas.microsoft.com/office/drawing/2014/main" id="{BD6FDB09-E75F-4F8E-8BC6-3ABE8E2B8915}"/>
              </a:ext>
            </a:extLst>
          </p:cNvPr>
          <p:cNvSpPr>
            <a:spLocks noGrp="1"/>
          </p:cNvSpPr>
          <p:nvPr/>
        </p:nvSpPr>
        <p:spPr>
          <a:xfrm>
            <a:off x="3695224" y="43333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53" name="Straight Arrow Connector 352"/>
          <p:cNvCxnSpPr>
            <a:stCxn id="121" idx="3"/>
            <a:endCxn id="122" idx="1"/>
          </p:cNvCxnSpPr>
          <p:nvPr/>
        </p:nvCxnSpPr>
        <p:spPr>
          <a:xfrm>
            <a:off x="2505552" y="4333876"/>
            <a:ext cx="1189672" cy="0"/>
          </a:xfrm>
          <a:prstGeom prst="straightConnector1">
            <a:avLst/>
          </a:prstGeom>
          <a:ln w="17145">
            <a:solidFill>
              <a:srgbClr val="4A73BC"/>
            </a:solidFill>
            <a:tailEnd type="triangle" w="sm" len="sm"/>
          </a:ln>
        </p:spPr>
      </p:cxnSp>
      <p:sp>
        <p:nvSpPr>
          <p:cNvPr id="124" name="path-115">
            <a:extLst>
              <a:ext uri="{FF2B5EF4-FFF2-40B4-BE49-F238E27FC236}">
                <a16:creationId xmlns:a16="http://schemas.microsoft.com/office/drawing/2014/main" id="{A7A30FD3-5461-4E35-B758-710D7D273E8B}"/>
              </a:ext>
            </a:extLst>
          </p:cNvPr>
          <p:cNvSpPr>
            <a:spLocks noGrp="1"/>
          </p:cNvSpPr>
          <p:nvPr/>
        </p:nvSpPr>
        <p:spPr>
          <a:xfrm>
            <a:off x="3733800" y="3905250"/>
            <a:ext cx="857250" cy="857250"/>
          </a:xfrm>
          <a:custGeom>
            <a:avLst/>
            <a:gdLst/>
            <a:ahLst/>
            <a:cxnLst/>
            <a:rect l="0" t="0" r="0" b="0"/>
            <a:pathLst>
              <a:path w="857250" h="857250">
                <a:moveTo>
                  <a:pt x="428625" y="0"/>
                </a:moveTo>
                <a:lnTo>
                  <a:pt x="857250" y="428625"/>
                </a:lnTo>
                <a:lnTo>
                  <a:pt x="428625" y="857250"/>
                </a:lnTo>
                <a:lnTo>
                  <a:pt x="0" y="428625"/>
                </a:lnTo>
                <a:close/>
              </a:path>
            </a:pathLst>
          </a:custGeom>
          <a:solidFill>
            <a:srgbClr val="EFF4FC"/>
          </a:solidFill>
          <a:ln w="17145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5" name="vector-116">
            <a:extLst>
              <a:ext uri="{FF2B5EF4-FFF2-40B4-BE49-F238E27FC236}">
                <a16:creationId xmlns:a16="http://schemas.microsoft.com/office/drawing/2014/main" id="{86E6DBA3-F5D2-4B21-A03E-A12CFA34B87C}"/>
              </a:ext>
            </a:extLst>
          </p:cNvPr>
          <p:cNvSpPr>
            <a:spLocks noGrp="1"/>
          </p:cNvSpPr>
          <p:nvPr/>
        </p:nvSpPr>
        <p:spPr>
          <a:xfrm>
            <a:off x="3933825" y="4105275"/>
            <a:ext cx="457200" cy="4095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 b="1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A73BC"/>
                </a:solidFill>
                <a:latin typeface="Arial"/>
                <a:ea typeface="Arial"/>
                <a:cs typeface="Arial"/>
              </a:rPr>
              <a:t>τ</a:t>
            </a:r>
          </a:p>
        </p:txBody>
      </p:sp>
      <p:sp>
        <p:nvSpPr>
          <p:cNvPr id="126" name="path-117">
            <a:extLst>
              <a:ext uri="{FF2B5EF4-FFF2-40B4-BE49-F238E27FC236}">
                <a16:creationId xmlns:a16="http://schemas.microsoft.com/office/drawing/2014/main" id="{891C7E89-8A8D-41A0-A231-C20ED049CD8E}"/>
              </a:ext>
            </a:extLst>
          </p:cNvPr>
          <p:cNvSpPr>
            <a:spLocks noGrp="1"/>
          </p:cNvSpPr>
          <p:nvPr/>
        </p:nvSpPr>
        <p:spPr>
          <a:xfrm>
            <a:off x="4591050" y="3905250"/>
            <a:ext cx="1200150" cy="428625"/>
          </a:xfrm>
          <a:custGeom>
            <a:avLst/>
            <a:gdLst/>
            <a:ahLst/>
            <a:cxnLst/>
            <a:rect l="0" t="0" r="0" b="0"/>
            <a:pathLst>
              <a:path w="1200150" h="428625">
                <a:moveTo>
                  <a:pt x="0" y="428625"/>
                </a:moveTo>
                <a:lnTo>
                  <a:pt x="561975" y="428625"/>
                </a:lnTo>
                <a:lnTo>
                  <a:pt x="561975" y="0"/>
                </a:lnTo>
                <a:lnTo>
                  <a:pt x="1200150" y="0"/>
                </a:lnTo>
              </a:path>
            </a:pathLst>
          </a:custGeom>
          <a:noFill/>
          <a:ln w="1714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7" name="vector-118">
            <a:extLst>
              <a:ext uri="{FF2B5EF4-FFF2-40B4-BE49-F238E27FC236}">
                <a16:creationId xmlns:a16="http://schemas.microsoft.com/office/drawing/2014/main" id="{8C2431E5-313F-4C95-85A0-ED266777AC97}"/>
              </a:ext>
            </a:extLst>
          </p:cNvPr>
          <p:cNvSpPr>
            <a:spLocks noGrp="1"/>
          </p:cNvSpPr>
          <p:nvPr/>
        </p:nvSpPr>
        <p:spPr>
          <a:xfrm>
            <a:off x="5790724" y="39047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28" name="vector-119">
            <a:extLst>
              <a:ext uri="{FF2B5EF4-FFF2-40B4-BE49-F238E27FC236}">
                <a16:creationId xmlns:a16="http://schemas.microsoft.com/office/drawing/2014/main" id="{454D56C9-47E0-4EC7-81C5-3473587C8E66}"/>
              </a:ext>
            </a:extLst>
          </p:cNvPr>
          <p:cNvSpPr>
            <a:spLocks noGrp="1"/>
          </p:cNvSpPr>
          <p:nvPr/>
        </p:nvSpPr>
        <p:spPr>
          <a:xfrm>
            <a:off x="6028849" y="39047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59" name="Straight Arrow Connector 358"/>
          <p:cNvCxnSpPr>
            <a:stCxn id="127" idx="3"/>
            <a:endCxn id="128" idx="1"/>
          </p:cNvCxnSpPr>
          <p:nvPr/>
        </p:nvCxnSpPr>
        <p:spPr>
          <a:xfrm>
            <a:off x="5791677" y="3905251"/>
            <a:ext cx="237172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130" name="vector-120">
            <a:extLst>
              <a:ext uri="{FF2B5EF4-FFF2-40B4-BE49-F238E27FC236}">
                <a16:creationId xmlns:a16="http://schemas.microsoft.com/office/drawing/2014/main" id="{87717418-97E9-481D-846C-422E558D810A}"/>
              </a:ext>
            </a:extLst>
          </p:cNvPr>
          <p:cNvSpPr>
            <a:spLocks noGrp="1"/>
          </p:cNvSpPr>
          <p:nvPr/>
        </p:nvSpPr>
        <p:spPr>
          <a:xfrm>
            <a:off x="5153025" y="3590925"/>
            <a:ext cx="76200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8A83"/>
                </a:solidFill>
                <a:latin typeface="Arial"/>
                <a:ea typeface="Arial"/>
                <a:cs typeface="Arial"/>
              </a:rPr>
              <a:t>≥ τ</a:t>
            </a:r>
          </a:p>
        </p:txBody>
      </p:sp>
      <p:sp>
        <p:nvSpPr>
          <p:cNvPr id="131" name="vector-121">
            <a:extLst>
              <a:ext uri="{FF2B5EF4-FFF2-40B4-BE49-F238E27FC236}">
                <a16:creationId xmlns:a16="http://schemas.microsoft.com/office/drawing/2014/main" id="{8A555769-2CF4-4031-9CA7-260B3CDFD629}"/>
              </a:ext>
            </a:extLst>
          </p:cNvPr>
          <p:cNvSpPr>
            <a:spLocks noGrp="1"/>
          </p:cNvSpPr>
          <p:nvPr/>
        </p:nvSpPr>
        <p:spPr>
          <a:xfrm>
            <a:off x="6057900" y="3648075"/>
            <a:ext cx="514350" cy="5143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2" name="path-122">
            <a:extLst>
              <a:ext uri="{FF2B5EF4-FFF2-40B4-BE49-F238E27FC236}">
                <a16:creationId xmlns:a16="http://schemas.microsoft.com/office/drawing/2014/main" id="{822A93D3-3DAC-4B39-9F06-FB00687CE607}"/>
              </a:ext>
            </a:extLst>
          </p:cNvPr>
          <p:cNvSpPr>
            <a:spLocks noGrp="1"/>
          </p:cNvSpPr>
          <p:nvPr/>
        </p:nvSpPr>
        <p:spPr>
          <a:xfrm>
            <a:off x="6200775" y="3819525"/>
            <a:ext cx="238125" cy="171450"/>
          </a:xfrm>
          <a:custGeom>
            <a:avLst/>
            <a:gdLst/>
            <a:ahLst/>
            <a:cxnLst/>
            <a:rect l="0" t="0" r="0" b="0"/>
            <a:pathLst>
              <a:path w="238125" h="171450">
                <a:moveTo>
                  <a:pt x="0" y="85725"/>
                </a:moveTo>
                <a:lnTo>
                  <a:pt x="85725" y="171450"/>
                </a:lnTo>
                <a:lnTo>
                  <a:pt x="238125" y="0"/>
                </a:lnTo>
              </a:path>
            </a:pathLst>
          </a:custGeom>
          <a:noFill/>
          <a:ln w="2667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3" name="vector-123">
            <a:extLst>
              <a:ext uri="{FF2B5EF4-FFF2-40B4-BE49-F238E27FC236}">
                <a16:creationId xmlns:a16="http://schemas.microsoft.com/office/drawing/2014/main" id="{0C19C680-5E4B-4374-B72D-4CD8BAB59D31}"/>
              </a:ext>
            </a:extLst>
          </p:cNvPr>
          <p:cNvSpPr>
            <a:spLocks noGrp="1"/>
          </p:cNvSpPr>
          <p:nvPr/>
        </p:nvSpPr>
        <p:spPr>
          <a:xfrm>
            <a:off x="5791200" y="4276725"/>
            <a:ext cx="104775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8A83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134" name="path-124">
            <a:extLst>
              <a:ext uri="{FF2B5EF4-FFF2-40B4-BE49-F238E27FC236}">
                <a16:creationId xmlns:a16="http://schemas.microsoft.com/office/drawing/2014/main" id="{C376F8F0-EABB-4538-BC48-3C80B7D6B59B}"/>
              </a:ext>
            </a:extLst>
          </p:cNvPr>
          <p:cNvSpPr>
            <a:spLocks noGrp="1"/>
          </p:cNvSpPr>
          <p:nvPr/>
        </p:nvSpPr>
        <p:spPr>
          <a:xfrm>
            <a:off x="4591050" y="4333875"/>
            <a:ext cx="1200150" cy="885825"/>
          </a:xfrm>
          <a:custGeom>
            <a:avLst/>
            <a:gdLst/>
            <a:ahLst/>
            <a:cxnLst/>
            <a:rect l="0" t="0" r="0" b="0"/>
            <a:pathLst>
              <a:path w="1200150" h="885825">
                <a:moveTo>
                  <a:pt x="0" y="0"/>
                </a:moveTo>
                <a:lnTo>
                  <a:pt x="561975" y="0"/>
                </a:lnTo>
                <a:lnTo>
                  <a:pt x="561975" y="885825"/>
                </a:lnTo>
                <a:lnTo>
                  <a:pt x="1200150" y="885825"/>
                </a:lnTo>
              </a:path>
            </a:pathLst>
          </a:custGeom>
          <a:noFill/>
          <a:ln w="17145">
            <a:solidFill>
              <a:srgbClr val="747E8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5" name="vector-125">
            <a:extLst>
              <a:ext uri="{FF2B5EF4-FFF2-40B4-BE49-F238E27FC236}">
                <a16:creationId xmlns:a16="http://schemas.microsoft.com/office/drawing/2014/main" id="{697254C2-17EE-47DC-969A-48175A0531AD}"/>
              </a:ext>
            </a:extLst>
          </p:cNvPr>
          <p:cNvSpPr>
            <a:spLocks noGrp="1"/>
          </p:cNvSpPr>
          <p:nvPr/>
        </p:nvSpPr>
        <p:spPr>
          <a:xfrm>
            <a:off x="5790724" y="52192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36" name="vector-126">
            <a:extLst>
              <a:ext uri="{FF2B5EF4-FFF2-40B4-BE49-F238E27FC236}">
                <a16:creationId xmlns:a16="http://schemas.microsoft.com/office/drawing/2014/main" id="{64D7E527-8371-41B7-BA2C-81534A1B790B}"/>
              </a:ext>
            </a:extLst>
          </p:cNvPr>
          <p:cNvSpPr>
            <a:spLocks noGrp="1"/>
          </p:cNvSpPr>
          <p:nvPr/>
        </p:nvSpPr>
        <p:spPr>
          <a:xfrm>
            <a:off x="6028849" y="52192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67" name="Straight Arrow Connector 366"/>
          <p:cNvCxnSpPr>
            <a:stCxn id="135" idx="3"/>
            <a:endCxn id="136" idx="1"/>
          </p:cNvCxnSpPr>
          <p:nvPr/>
        </p:nvCxnSpPr>
        <p:spPr>
          <a:xfrm>
            <a:off x="5791677" y="5219701"/>
            <a:ext cx="237172" cy="0"/>
          </a:xfrm>
          <a:prstGeom prst="straightConnector1">
            <a:avLst/>
          </a:prstGeom>
          <a:ln w="17145">
            <a:solidFill>
              <a:srgbClr val="747E8A"/>
            </a:solidFill>
            <a:tailEnd type="triangle" w="sm" len="sm"/>
          </a:ln>
        </p:spPr>
      </p:cxnSp>
      <p:sp>
        <p:nvSpPr>
          <p:cNvPr id="138" name="vector-127">
            <a:extLst>
              <a:ext uri="{FF2B5EF4-FFF2-40B4-BE49-F238E27FC236}">
                <a16:creationId xmlns:a16="http://schemas.microsoft.com/office/drawing/2014/main" id="{1269C5D5-7B08-47A7-B014-F3805B8C139F}"/>
              </a:ext>
            </a:extLst>
          </p:cNvPr>
          <p:cNvSpPr>
            <a:spLocks noGrp="1"/>
          </p:cNvSpPr>
          <p:nvPr/>
        </p:nvSpPr>
        <p:spPr>
          <a:xfrm>
            <a:off x="5219700" y="4876800"/>
            <a:ext cx="647700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&lt; τ</a:t>
            </a:r>
          </a:p>
        </p:txBody>
      </p:sp>
      <p:sp>
        <p:nvSpPr>
          <p:cNvPr id="139" name="vector-128">
            <a:extLst>
              <a:ext uri="{FF2B5EF4-FFF2-40B4-BE49-F238E27FC236}">
                <a16:creationId xmlns:a16="http://schemas.microsoft.com/office/drawing/2014/main" id="{B7016E43-4125-4C4C-9778-FE72F1FC037D}"/>
              </a:ext>
            </a:extLst>
          </p:cNvPr>
          <p:cNvSpPr>
            <a:spLocks noGrp="1"/>
          </p:cNvSpPr>
          <p:nvPr/>
        </p:nvSpPr>
        <p:spPr>
          <a:xfrm>
            <a:off x="6057900" y="4962525"/>
            <a:ext cx="514350" cy="5143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47E8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0" name="path-129">
            <a:extLst>
              <a:ext uri="{FF2B5EF4-FFF2-40B4-BE49-F238E27FC236}">
                <a16:creationId xmlns:a16="http://schemas.microsoft.com/office/drawing/2014/main" id="{39400BDA-F0BE-47A1-81BC-FA8916C0B704}"/>
              </a:ext>
            </a:extLst>
          </p:cNvPr>
          <p:cNvSpPr>
            <a:spLocks noGrp="1"/>
          </p:cNvSpPr>
          <p:nvPr/>
        </p:nvSpPr>
        <p:spPr>
          <a:xfrm>
            <a:off x="6200775" y="5162550"/>
            <a:ext cx="209550" cy="123825"/>
          </a:xfrm>
          <a:custGeom>
            <a:avLst/>
            <a:gdLst/>
            <a:ahLst/>
            <a:cxnLst/>
            <a:rect l="0" t="0" r="0" b="0"/>
            <a:pathLst>
              <a:path w="209550" h="123825">
                <a:moveTo>
                  <a:pt x="0" y="123825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19050">
            <a:solidFill>
              <a:srgbClr val="747E8A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1" name="vector-130">
            <a:extLst>
              <a:ext uri="{FF2B5EF4-FFF2-40B4-BE49-F238E27FC236}">
                <a16:creationId xmlns:a16="http://schemas.microsoft.com/office/drawing/2014/main" id="{E2C6DB4C-8DE7-4F0A-94C5-772A8F4859FA}"/>
              </a:ext>
            </a:extLst>
          </p:cNvPr>
          <p:cNvSpPr>
            <a:spLocks noGrp="1"/>
          </p:cNvSpPr>
          <p:nvPr/>
        </p:nvSpPr>
        <p:spPr>
          <a:xfrm>
            <a:off x="6409849" y="51620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42" name="vector-131">
            <a:extLst>
              <a:ext uri="{FF2B5EF4-FFF2-40B4-BE49-F238E27FC236}">
                <a16:creationId xmlns:a16="http://schemas.microsoft.com/office/drawing/2014/main" id="{436D490D-5AF5-41B2-9474-8A6C61CB55B5}"/>
              </a:ext>
            </a:extLst>
          </p:cNvPr>
          <p:cNvSpPr>
            <a:spLocks noGrp="1"/>
          </p:cNvSpPr>
          <p:nvPr/>
        </p:nvSpPr>
        <p:spPr>
          <a:xfrm>
            <a:off x="6476524" y="516207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373" name="Straight Arrow Connector 372"/>
          <p:cNvCxnSpPr>
            <a:stCxn id="141" idx="3"/>
            <a:endCxn id="142" idx="1"/>
          </p:cNvCxnSpPr>
          <p:nvPr/>
        </p:nvCxnSpPr>
        <p:spPr>
          <a:xfrm>
            <a:off x="6410802" y="5162551"/>
            <a:ext cx="65722" cy="0"/>
          </a:xfrm>
          <a:prstGeom prst="straightConnector1">
            <a:avLst/>
          </a:prstGeom>
          <a:ln w="17145">
            <a:solidFill>
              <a:srgbClr val="747E8A"/>
            </a:solidFill>
            <a:tailEnd type="triangle" w="sm" len="sm"/>
          </a:ln>
        </p:spPr>
      </p:cxnSp>
      <p:sp>
        <p:nvSpPr>
          <p:cNvPr id="144" name="vector-132">
            <a:extLst>
              <a:ext uri="{FF2B5EF4-FFF2-40B4-BE49-F238E27FC236}">
                <a16:creationId xmlns:a16="http://schemas.microsoft.com/office/drawing/2014/main" id="{22B56783-31C0-41BF-9199-641D618BBF27}"/>
              </a:ext>
            </a:extLst>
          </p:cNvPr>
          <p:cNvSpPr>
            <a:spLocks noGrp="1"/>
          </p:cNvSpPr>
          <p:nvPr/>
        </p:nvSpPr>
        <p:spPr>
          <a:xfrm>
            <a:off x="5410200" y="5591175"/>
            <a:ext cx="180975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7E8A"/>
                </a:solidFill>
                <a:latin typeface="Arial"/>
                <a:ea typeface="Arial"/>
                <a:cs typeface="Arial"/>
              </a:rPr>
              <a:t>route / abstain</a:t>
            </a:r>
          </a:p>
        </p:txBody>
      </p:sp>
      <p:sp>
        <p:nvSpPr>
          <p:cNvPr id="145" name="path-133">
            <a:extLst>
              <a:ext uri="{FF2B5EF4-FFF2-40B4-BE49-F238E27FC236}">
                <a16:creationId xmlns:a16="http://schemas.microsoft.com/office/drawing/2014/main" id="{00C5A4A8-6E59-484E-B956-CD3BEBAF7859}"/>
              </a:ext>
            </a:extLst>
          </p:cNvPr>
          <p:cNvSpPr>
            <a:spLocks noGrp="1"/>
          </p:cNvSpPr>
          <p:nvPr/>
        </p:nvSpPr>
        <p:spPr>
          <a:xfrm>
            <a:off x="1990725" y="6972300"/>
            <a:ext cx="2752725" cy="953"/>
          </a:xfrm>
          <a:custGeom>
            <a:avLst/>
            <a:gdLst/>
            <a:ahLst/>
            <a:cxnLst/>
            <a:rect l="0" t="0" r="0" b="0"/>
            <a:pathLst>
              <a:path w="2752725" h="953">
                <a:moveTo>
                  <a:pt x="0" y="0"/>
                </a:moveTo>
                <a:lnTo>
                  <a:pt x="2752725" y="0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6" name="path-134">
            <a:extLst>
              <a:ext uri="{FF2B5EF4-FFF2-40B4-BE49-F238E27FC236}">
                <a16:creationId xmlns:a16="http://schemas.microsoft.com/office/drawing/2014/main" id="{6B7AEBFA-C4AE-4AF6-91C7-979778D1E804}"/>
              </a:ext>
            </a:extLst>
          </p:cNvPr>
          <p:cNvSpPr>
            <a:spLocks noGrp="1"/>
          </p:cNvSpPr>
          <p:nvPr/>
        </p:nvSpPr>
        <p:spPr>
          <a:xfrm>
            <a:off x="1990725" y="6048375"/>
            <a:ext cx="953" cy="923925"/>
          </a:xfrm>
          <a:custGeom>
            <a:avLst/>
            <a:gdLst/>
            <a:ahLst/>
            <a:cxnLst/>
            <a:rect l="0" t="0" r="0" b="0"/>
            <a:pathLst>
              <a:path w="953" h="923925">
                <a:moveTo>
                  <a:pt x="0" y="923925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7" name="path-135">
            <a:extLst>
              <a:ext uri="{FF2B5EF4-FFF2-40B4-BE49-F238E27FC236}">
                <a16:creationId xmlns:a16="http://schemas.microsoft.com/office/drawing/2014/main" id="{04AE04D6-07CE-4035-BF06-7657ED5D7144}"/>
              </a:ext>
            </a:extLst>
          </p:cNvPr>
          <p:cNvSpPr>
            <a:spLocks noGrp="1"/>
          </p:cNvSpPr>
          <p:nvPr/>
        </p:nvSpPr>
        <p:spPr>
          <a:xfrm>
            <a:off x="2114550" y="6191250"/>
            <a:ext cx="2514600" cy="714375"/>
          </a:xfrm>
          <a:custGeom>
            <a:avLst/>
            <a:gdLst/>
            <a:ahLst/>
            <a:cxnLst/>
            <a:rect l="0" t="0" r="0" b="0"/>
            <a:pathLst>
              <a:path w="2514600" h="714375">
                <a:moveTo>
                  <a:pt x="0" y="0"/>
                </a:moveTo>
                <a:lnTo>
                  <a:pt x="390525" y="66675"/>
                </a:lnTo>
                <a:lnTo>
                  <a:pt x="781050" y="180975"/>
                </a:lnTo>
                <a:lnTo>
                  <a:pt x="1209675" y="342900"/>
                </a:lnTo>
                <a:lnTo>
                  <a:pt x="1628775" y="514350"/>
                </a:lnTo>
                <a:lnTo>
                  <a:pt x="2095500" y="638175"/>
                </a:lnTo>
                <a:lnTo>
                  <a:pt x="2514600" y="714375"/>
                </a:lnTo>
              </a:path>
            </a:pathLst>
          </a:custGeom>
          <a:noFill/>
          <a:ln w="21908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8" name="vector-136">
            <a:extLst>
              <a:ext uri="{FF2B5EF4-FFF2-40B4-BE49-F238E27FC236}">
                <a16:creationId xmlns:a16="http://schemas.microsoft.com/office/drawing/2014/main" id="{C6706FCA-E2C5-40A8-B7F2-80E85F144313}"/>
              </a:ext>
            </a:extLst>
          </p:cNvPr>
          <p:cNvSpPr>
            <a:spLocks noGrp="1"/>
          </p:cNvSpPr>
          <p:nvPr/>
        </p:nvSpPr>
        <p:spPr>
          <a:xfrm>
            <a:off x="2084070" y="6160770"/>
            <a:ext cx="60960" cy="60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9" name="vector-137">
            <a:extLst>
              <a:ext uri="{FF2B5EF4-FFF2-40B4-BE49-F238E27FC236}">
                <a16:creationId xmlns:a16="http://schemas.microsoft.com/office/drawing/2014/main" id="{4F0B2673-5CBB-48B3-B6EA-370DCEF62676}"/>
              </a:ext>
            </a:extLst>
          </p:cNvPr>
          <p:cNvSpPr>
            <a:spLocks noGrp="1"/>
          </p:cNvSpPr>
          <p:nvPr/>
        </p:nvSpPr>
        <p:spPr>
          <a:xfrm>
            <a:off x="2474595" y="6227445"/>
            <a:ext cx="60960" cy="60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0" name="vector-138">
            <a:extLst>
              <a:ext uri="{FF2B5EF4-FFF2-40B4-BE49-F238E27FC236}">
                <a16:creationId xmlns:a16="http://schemas.microsoft.com/office/drawing/2014/main" id="{D9D85946-8AF4-4092-8888-D7A0DA587734}"/>
              </a:ext>
            </a:extLst>
          </p:cNvPr>
          <p:cNvSpPr>
            <a:spLocks noGrp="1"/>
          </p:cNvSpPr>
          <p:nvPr/>
        </p:nvSpPr>
        <p:spPr>
          <a:xfrm>
            <a:off x="2865120" y="6341745"/>
            <a:ext cx="60960" cy="60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1" name="vector-139">
            <a:extLst>
              <a:ext uri="{FF2B5EF4-FFF2-40B4-BE49-F238E27FC236}">
                <a16:creationId xmlns:a16="http://schemas.microsoft.com/office/drawing/2014/main" id="{6FA09B2D-AC16-4E71-8491-6BE416A7933C}"/>
              </a:ext>
            </a:extLst>
          </p:cNvPr>
          <p:cNvSpPr>
            <a:spLocks noGrp="1"/>
          </p:cNvSpPr>
          <p:nvPr/>
        </p:nvSpPr>
        <p:spPr>
          <a:xfrm>
            <a:off x="3276600" y="6486525"/>
            <a:ext cx="95250" cy="95250"/>
          </a:xfrm>
          <a:prstGeom prst="ellipse">
            <a:avLst/>
          </a:prstGeom>
          <a:solidFill>
            <a:srgbClr val="4A73BC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2" name="vector-140">
            <a:extLst>
              <a:ext uri="{FF2B5EF4-FFF2-40B4-BE49-F238E27FC236}">
                <a16:creationId xmlns:a16="http://schemas.microsoft.com/office/drawing/2014/main" id="{24F85C16-2B87-4B63-A7C1-70224CD3D618}"/>
              </a:ext>
            </a:extLst>
          </p:cNvPr>
          <p:cNvSpPr>
            <a:spLocks noGrp="1"/>
          </p:cNvSpPr>
          <p:nvPr/>
        </p:nvSpPr>
        <p:spPr>
          <a:xfrm>
            <a:off x="3712845" y="6675120"/>
            <a:ext cx="60960" cy="60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3" name="vector-141">
            <a:extLst>
              <a:ext uri="{FF2B5EF4-FFF2-40B4-BE49-F238E27FC236}">
                <a16:creationId xmlns:a16="http://schemas.microsoft.com/office/drawing/2014/main" id="{F7B5ACFB-C3FA-43B4-BCBD-88F957E1756E}"/>
              </a:ext>
            </a:extLst>
          </p:cNvPr>
          <p:cNvSpPr>
            <a:spLocks noGrp="1"/>
          </p:cNvSpPr>
          <p:nvPr/>
        </p:nvSpPr>
        <p:spPr>
          <a:xfrm>
            <a:off x="4179570" y="6798945"/>
            <a:ext cx="60960" cy="60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4" name="vector-142">
            <a:extLst>
              <a:ext uri="{FF2B5EF4-FFF2-40B4-BE49-F238E27FC236}">
                <a16:creationId xmlns:a16="http://schemas.microsoft.com/office/drawing/2014/main" id="{822CE4A5-040C-40B3-90D7-176842B1EBD5}"/>
              </a:ext>
            </a:extLst>
          </p:cNvPr>
          <p:cNvSpPr>
            <a:spLocks noGrp="1"/>
          </p:cNvSpPr>
          <p:nvPr/>
        </p:nvSpPr>
        <p:spPr>
          <a:xfrm>
            <a:off x="4598670" y="6875145"/>
            <a:ext cx="60960" cy="60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A73BC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5" name="vector-143">
            <a:extLst>
              <a:ext uri="{FF2B5EF4-FFF2-40B4-BE49-F238E27FC236}">
                <a16:creationId xmlns:a16="http://schemas.microsoft.com/office/drawing/2014/main" id="{08305F8D-F323-44D7-A69F-FDA8C05D2DF3}"/>
              </a:ext>
            </a:extLst>
          </p:cNvPr>
          <p:cNvSpPr>
            <a:spLocks noGrp="1"/>
          </p:cNvSpPr>
          <p:nvPr/>
        </p:nvSpPr>
        <p:spPr>
          <a:xfrm>
            <a:off x="819150" y="6238875"/>
            <a:ext cx="1095375" cy="2476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56" name="vector-144">
            <a:extLst>
              <a:ext uri="{FF2B5EF4-FFF2-40B4-BE49-F238E27FC236}">
                <a16:creationId xmlns:a16="http://schemas.microsoft.com/office/drawing/2014/main" id="{631F88EB-022F-48C4-9BBB-C57B5E210C4B}"/>
              </a:ext>
            </a:extLst>
          </p:cNvPr>
          <p:cNvSpPr>
            <a:spLocks noGrp="1"/>
          </p:cNvSpPr>
          <p:nvPr/>
        </p:nvSpPr>
        <p:spPr>
          <a:xfrm>
            <a:off x="2914650" y="7048500"/>
            <a:ext cx="1428750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57" name="vector-145">
            <a:extLst>
              <a:ext uri="{FF2B5EF4-FFF2-40B4-BE49-F238E27FC236}">
                <a16:creationId xmlns:a16="http://schemas.microsoft.com/office/drawing/2014/main" id="{B36A7264-1F1D-46D9-8153-CEA2F6365FDA}"/>
              </a:ext>
            </a:extLst>
          </p:cNvPr>
          <p:cNvSpPr>
            <a:spLocks noGrp="1"/>
          </p:cNvSpPr>
          <p:nvPr/>
        </p:nvSpPr>
        <p:spPr>
          <a:xfrm>
            <a:off x="5038725" y="6448425"/>
            <a:ext cx="125730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sweep τ</a:t>
            </a:r>
          </a:p>
        </p:txBody>
      </p:sp>
      <p:sp>
        <p:nvSpPr>
          <p:cNvPr id="158" name="vector-146">
            <a:extLst>
              <a:ext uri="{FF2B5EF4-FFF2-40B4-BE49-F238E27FC236}">
                <a16:creationId xmlns:a16="http://schemas.microsoft.com/office/drawing/2014/main" id="{1D6AA1CE-9891-44D6-B000-40E33FDE2F84}"/>
              </a:ext>
            </a:extLst>
          </p:cNvPr>
          <p:cNvSpPr>
            <a:spLocks noGrp="1"/>
          </p:cNvSpPr>
          <p:nvPr/>
        </p:nvSpPr>
        <p:spPr>
          <a:xfrm>
            <a:off x="8801100" y="3638550"/>
            <a:ext cx="419100" cy="5143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9" name="path-147">
            <a:extLst>
              <a:ext uri="{FF2B5EF4-FFF2-40B4-BE49-F238E27FC236}">
                <a16:creationId xmlns:a16="http://schemas.microsoft.com/office/drawing/2014/main" id="{91A966BD-8133-4F8C-834A-56BFD0F136CE}"/>
              </a:ext>
            </a:extLst>
          </p:cNvPr>
          <p:cNvSpPr>
            <a:spLocks noGrp="1"/>
          </p:cNvSpPr>
          <p:nvPr/>
        </p:nvSpPr>
        <p:spPr>
          <a:xfrm>
            <a:off x="8896350" y="3781425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0" name="path-148">
            <a:extLst>
              <a:ext uri="{FF2B5EF4-FFF2-40B4-BE49-F238E27FC236}">
                <a16:creationId xmlns:a16="http://schemas.microsoft.com/office/drawing/2014/main" id="{1E9FE33A-60C4-4BFA-A664-7B7E3B195BEE}"/>
              </a:ext>
            </a:extLst>
          </p:cNvPr>
          <p:cNvSpPr>
            <a:spLocks noGrp="1"/>
          </p:cNvSpPr>
          <p:nvPr/>
        </p:nvSpPr>
        <p:spPr>
          <a:xfrm>
            <a:off x="8896350" y="3886200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1" name="path-149">
            <a:extLst>
              <a:ext uri="{FF2B5EF4-FFF2-40B4-BE49-F238E27FC236}">
                <a16:creationId xmlns:a16="http://schemas.microsoft.com/office/drawing/2014/main" id="{8ED5F752-6141-4F3A-B14B-FC99100C4A07}"/>
              </a:ext>
            </a:extLst>
          </p:cNvPr>
          <p:cNvSpPr>
            <a:spLocks noGrp="1"/>
          </p:cNvSpPr>
          <p:nvPr/>
        </p:nvSpPr>
        <p:spPr>
          <a:xfrm>
            <a:off x="8896350" y="3990975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2" name="vector-150">
            <a:extLst>
              <a:ext uri="{FF2B5EF4-FFF2-40B4-BE49-F238E27FC236}">
                <a16:creationId xmlns:a16="http://schemas.microsoft.com/office/drawing/2014/main" id="{DB020AC8-6920-4FED-8CD0-E905FE31CADC}"/>
              </a:ext>
            </a:extLst>
          </p:cNvPr>
          <p:cNvSpPr>
            <a:spLocks noGrp="1"/>
          </p:cNvSpPr>
          <p:nvPr/>
        </p:nvSpPr>
        <p:spPr>
          <a:xfrm>
            <a:off x="8743950" y="3686175"/>
            <a:ext cx="419100" cy="5143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3" name="path-151">
            <a:extLst>
              <a:ext uri="{FF2B5EF4-FFF2-40B4-BE49-F238E27FC236}">
                <a16:creationId xmlns:a16="http://schemas.microsoft.com/office/drawing/2014/main" id="{30C38BEE-E033-4845-9F69-34B9DBF3BE77}"/>
              </a:ext>
            </a:extLst>
          </p:cNvPr>
          <p:cNvSpPr>
            <a:spLocks noGrp="1"/>
          </p:cNvSpPr>
          <p:nvPr/>
        </p:nvSpPr>
        <p:spPr>
          <a:xfrm>
            <a:off x="8839200" y="3829050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4" name="path-152">
            <a:extLst>
              <a:ext uri="{FF2B5EF4-FFF2-40B4-BE49-F238E27FC236}">
                <a16:creationId xmlns:a16="http://schemas.microsoft.com/office/drawing/2014/main" id="{EA816B9C-DAC7-48FE-BCCC-922AD92819AF}"/>
              </a:ext>
            </a:extLst>
          </p:cNvPr>
          <p:cNvSpPr>
            <a:spLocks noGrp="1"/>
          </p:cNvSpPr>
          <p:nvPr/>
        </p:nvSpPr>
        <p:spPr>
          <a:xfrm>
            <a:off x="8839200" y="3933825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5" name="path-153">
            <a:extLst>
              <a:ext uri="{FF2B5EF4-FFF2-40B4-BE49-F238E27FC236}">
                <a16:creationId xmlns:a16="http://schemas.microsoft.com/office/drawing/2014/main" id="{7379C851-F873-42AA-8263-B2085C941C82}"/>
              </a:ext>
            </a:extLst>
          </p:cNvPr>
          <p:cNvSpPr>
            <a:spLocks noGrp="1"/>
          </p:cNvSpPr>
          <p:nvPr/>
        </p:nvSpPr>
        <p:spPr>
          <a:xfrm>
            <a:off x="8839200" y="4038600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6" name="vector-154">
            <a:extLst>
              <a:ext uri="{FF2B5EF4-FFF2-40B4-BE49-F238E27FC236}">
                <a16:creationId xmlns:a16="http://schemas.microsoft.com/office/drawing/2014/main" id="{1B297E1B-3B13-4453-8AE0-509A2D3B1253}"/>
              </a:ext>
            </a:extLst>
          </p:cNvPr>
          <p:cNvSpPr>
            <a:spLocks noGrp="1"/>
          </p:cNvSpPr>
          <p:nvPr/>
        </p:nvSpPr>
        <p:spPr>
          <a:xfrm>
            <a:off x="8686800" y="3733800"/>
            <a:ext cx="419100" cy="5143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7" name="path-155">
            <a:extLst>
              <a:ext uri="{FF2B5EF4-FFF2-40B4-BE49-F238E27FC236}">
                <a16:creationId xmlns:a16="http://schemas.microsoft.com/office/drawing/2014/main" id="{A54F686F-1CB2-42C0-A2FD-FDCAA0DA22E2}"/>
              </a:ext>
            </a:extLst>
          </p:cNvPr>
          <p:cNvSpPr>
            <a:spLocks noGrp="1"/>
          </p:cNvSpPr>
          <p:nvPr/>
        </p:nvSpPr>
        <p:spPr>
          <a:xfrm>
            <a:off x="8782050" y="3876675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8" name="path-156">
            <a:extLst>
              <a:ext uri="{FF2B5EF4-FFF2-40B4-BE49-F238E27FC236}">
                <a16:creationId xmlns:a16="http://schemas.microsoft.com/office/drawing/2014/main" id="{F13721A9-B2D5-4ACC-A63F-5BE72717EA80}"/>
              </a:ext>
            </a:extLst>
          </p:cNvPr>
          <p:cNvSpPr>
            <a:spLocks noGrp="1"/>
          </p:cNvSpPr>
          <p:nvPr/>
        </p:nvSpPr>
        <p:spPr>
          <a:xfrm>
            <a:off x="8782050" y="3981450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9" name="path-157">
            <a:extLst>
              <a:ext uri="{FF2B5EF4-FFF2-40B4-BE49-F238E27FC236}">
                <a16:creationId xmlns:a16="http://schemas.microsoft.com/office/drawing/2014/main" id="{399CB15C-3F26-4575-8CD6-33279358A4FD}"/>
              </a:ext>
            </a:extLst>
          </p:cNvPr>
          <p:cNvSpPr>
            <a:spLocks noGrp="1"/>
          </p:cNvSpPr>
          <p:nvPr/>
        </p:nvSpPr>
        <p:spPr>
          <a:xfrm>
            <a:off x="8782050" y="4086225"/>
            <a:ext cx="228600" cy="953"/>
          </a:xfrm>
          <a:custGeom>
            <a:avLst/>
            <a:gdLst/>
            <a:ahLst/>
            <a:cxnLst/>
            <a:rect l="0" t="0" r="0" b="0"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3335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0" name="vector-158">
            <a:extLst>
              <a:ext uri="{FF2B5EF4-FFF2-40B4-BE49-F238E27FC236}">
                <a16:creationId xmlns:a16="http://schemas.microsoft.com/office/drawing/2014/main" id="{AF275CF4-7A10-412E-8935-6C49714F8280}"/>
              </a:ext>
            </a:extLst>
          </p:cNvPr>
          <p:cNvSpPr>
            <a:spLocks noGrp="1"/>
          </p:cNvSpPr>
          <p:nvPr/>
        </p:nvSpPr>
        <p:spPr>
          <a:xfrm>
            <a:off x="8020050" y="4391025"/>
            <a:ext cx="1809750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held-out calibration</a:t>
            </a:r>
          </a:p>
        </p:txBody>
      </p:sp>
      <p:sp>
        <p:nvSpPr>
          <p:cNvPr id="171" name="vector-159">
            <a:extLst>
              <a:ext uri="{FF2B5EF4-FFF2-40B4-BE49-F238E27FC236}">
                <a16:creationId xmlns:a16="http://schemas.microsoft.com/office/drawing/2014/main" id="{2D3AE343-2AF4-4F4C-BEEB-6D17BC5A4825}"/>
              </a:ext>
            </a:extLst>
          </p:cNvPr>
          <p:cNvSpPr>
            <a:spLocks noGrp="1"/>
          </p:cNvSpPr>
          <p:nvPr/>
        </p:nvSpPr>
        <p:spPr>
          <a:xfrm>
            <a:off x="9314974" y="39904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72" name="vector-160">
            <a:extLst>
              <a:ext uri="{FF2B5EF4-FFF2-40B4-BE49-F238E27FC236}">
                <a16:creationId xmlns:a16="http://schemas.microsoft.com/office/drawing/2014/main" id="{7C1DFF3A-5F1B-44F8-B9A5-9C3CB3D97768}"/>
              </a:ext>
            </a:extLst>
          </p:cNvPr>
          <p:cNvSpPr>
            <a:spLocks noGrp="1"/>
          </p:cNvSpPr>
          <p:nvPr/>
        </p:nvSpPr>
        <p:spPr>
          <a:xfrm>
            <a:off x="9762649" y="39904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403" name="Straight Arrow Connector 402"/>
          <p:cNvCxnSpPr>
            <a:stCxn id="171" idx="3"/>
            <a:endCxn id="172" idx="1"/>
          </p:cNvCxnSpPr>
          <p:nvPr/>
        </p:nvCxnSpPr>
        <p:spPr>
          <a:xfrm>
            <a:off x="9315927" y="3990976"/>
            <a:ext cx="446722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174" name="path-161">
            <a:extLst>
              <a:ext uri="{FF2B5EF4-FFF2-40B4-BE49-F238E27FC236}">
                <a16:creationId xmlns:a16="http://schemas.microsoft.com/office/drawing/2014/main" id="{D81A7B27-FBA4-4C45-BC05-5DED8635BA1A}"/>
              </a:ext>
            </a:extLst>
          </p:cNvPr>
          <p:cNvSpPr>
            <a:spLocks noGrp="1"/>
          </p:cNvSpPr>
          <p:nvPr/>
        </p:nvSpPr>
        <p:spPr>
          <a:xfrm>
            <a:off x="9886950" y="4057650"/>
            <a:ext cx="1524000" cy="953"/>
          </a:xfrm>
          <a:custGeom>
            <a:avLst/>
            <a:gdLst/>
            <a:ahLst/>
            <a:cxnLst/>
            <a:rect l="0" t="0" r="0" b="0"/>
            <a:pathLst>
              <a:path w="1524000" h="953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10478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5" name="vector-162">
            <a:extLst>
              <a:ext uri="{FF2B5EF4-FFF2-40B4-BE49-F238E27FC236}">
                <a16:creationId xmlns:a16="http://schemas.microsoft.com/office/drawing/2014/main" id="{45EBC078-766C-4359-9A06-80DD6402FFDC}"/>
              </a:ext>
            </a:extLst>
          </p:cNvPr>
          <p:cNvSpPr>
            <a:spLocks noGrp="1"/>
          </p:cNvSpPr>
          <p:nvPr/>
        </p:nvSpPr>
        <p:spPr>
          <a:xfrm>
            <a:off x="9906000" y="3943350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6" name="vector-163">
            <a:extLst>
              <a:ext uri="{FF2B5EF4-FFF2-40B4-BE49-F238E27FC236}">
                <a16:creationId xmlns:a16="http://schemas.microsoft.com/office/drawing/2014/main" id="{F22DFC7F-5F52-4C74-A7A8-A47D7BA29F18}"/>
              </a:ext>
            </a:extLst>
          </p:cNvPr>
          <p:cNvSpPr>
            <a:spLocks noGrp="1"/>
          </p:cNvSpPr>
          <p:nvPr/>
        </p:nvSpPr>
        <p:spPr>
          <a:xfrm>
            <a:off x="10096500" y="3943350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7" name="vector-164">
            <a:extLst>
              <a:ext uri="{FF2B5EF4-FFF2-40B4-BE49-F238E27FC236}">
                <a16:creationId xmlns:a16="http://schemas.microsoft.com/office/drawing/2014/main" id="{9AF906D5-3F0C-4481-85DD-9F6A8B36EE30}"/>
              </a:ext>
            </a:extLst>
          </p:cNvPr>
          <p:cNvSpPr>
            <a:spLocks noGrp="1"/>
          </p:cNvSpPr>
          <p:nvPr/>
        </p:nvSpPr>
        <p:spPr>
          <a:xfrm>
            <a:off x="10287000" y="3943350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8" name="vector-165">
            <a:extLst>
              <a:ext uri="{FF2B5EF4-FFF2-40B4-BE49-F238E27FC236}">
                <a16:creationId xmlns:a16="http://schemas.microsoft.com/office/drawing/2014/main" id="{A03FE2CD-B480-4B8D-AE27-0986555409AC}"/>
              </a:ext>
            </a:extLst>
          </p:cNvPr>
          <p:cNvSpPr>
            <a:spLocks noGrp="1"/>
          </p:cNvSpPr>
          <p:nvPr/>
        </p:nvSpPr>
        <p:spPr>
          <a:xfrm>
            <a:off x="10477500" y="3943350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79" name="vector-166">
            <a:extLst>
              <a:ext uri="{FF2B5EF4-FFF2-40B4-BE49-F238E27FC236}">
                <a16:creationId xmlns:a16="http://schemas.microsoft.com/office/drawing/2014/main" id="{5C00D258-4984-4130-98FA-89DC526D83EB}"/>
              </a:ext>
            </a:extLst>
          </p:cNvPr>
          <p:cNvSpPr>
            <a:spLocks noGrp="1"/>
          </p:cNvSpPr>
          <p:nvPr/>
        </p:nvSpPr>
        <p:spPr>
          <a:xfrm>
            <a:off x="10668000" y="3943350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0" name="vector-167">
            <a:extLst>
              <a:ext uri="{FF2B5EF4-FFF2-40B4-BE49-F238E27FC236}">
                <a16:creationId xmlns:a16="http://schemas.microsoft.com/office/drawing/2014/main" id="{65E10689-CAD2-4143-812E-0F9AA761A911}"/>
              </a:ext>
            </a:extLst>
          </p:cNvPr>
          <p:cNvSpPr>
            <a:spLocks noGrp="1"/>
          </p:cNvSpPr>
          <p:nvPr/>
        </p:nvSpPr>
        <p:spPr>
          <a:xfrm>
            <a:off x="10858500" y="3943350"/>
            <a:ext cx="95250" cy="9525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1" name="vector-168">
            <a:extLst>
              <a:ext uri="{FF2B5EF4-FFF2-40B4-BE49-F238E27FC236}">
                <a16:creationId xmlns:a16="http://schemas.microsoft.com/office/drawing/2014/main" id="{536BFA33-C307-4159-ADB7-C3A147074F1B}"/>
              </a:ext>
            </a:extLst>
          </p:cNvPr>
          <p:cNvSpPr>
            <a:spLocks noGrp="1"/>
          </p:cNvSpPr>
          <p:nvPr/>
        </p:nvSpPr>
        <p:spPr>
          <a:xfrm>
            <a:off x="11049000" y="3943350"/>
            <a:ext cx="95250" cy="95250"/>
          </a:xfrm>
          <a:prstGeom prst="ellipse">
            <a:avLst/>
          </a:prstGeom>
          <a:solidFill>
            <a:srgbClr val="218A83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2" name="vector-169">
            <a:extLst>
              <a:ext uri="{FF2B5EF4-FFF2-40B4-BE49-F238E27FC236}">
                <a16:creationId xmlns:a16="http://schemas.microsoft.com/office/drawing/2014/main" id="{C1B56548-B0C8-4A7A-AB77-84BF9269ACFE}"/>
              </a:ext>
            </a:extLst>
          </p:cNvPr>
          <p:cNvSpPr>
            <a:spLocks noGrp="1"/>
          </p:cNvSpPr>
          <p:nvPr/>
        </p:nvSpPr>
        <p:spPr>
          <a:xfrm>
            <a:off x="11239500" y="3943350"/>
            <a:ext cx="95250" cy="95250"/>
          </a:xfrm>
          <a:prstGeom prst="ellipse">
            <a:avLst/>
          </a:prstGeom>
          <a:solidFill>
            <a:srgbClr val="218A83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3" name="path-170">
            <a:extLst>
              <a:ext uri="{FF2B5EF4-FFF2-40B4-BE49-F238E27FC236}">
                <a16:creationId xmlns:a16="http://schemas.microsoft.com/office/drawing/2014/main" id="{5FF70B86-E293-4240-8ABA-D99CD4AF2916}"/>
              </a:ext>
            </a:extLst>
          </p:cNvPr>
          <p:cNvSpPr>
            <a:spLocks noGrp="1"/>
          </p:cNvSpPr>
          <p:nvPr/>
        </p:nvSpPr>
        <p:spPr>
          <a:xfrm>
            <a:off x="11001375" y="3733800"/>
            <a:ext cx="953" cy="447675"/>
          </a:xfrm>
          <a:custGeom>
            <a:avLst/>
            <a:gdLst/>
            <a:ahLst/>
            <a:cxnLst/>
            <a:rect l="0" t="0" r="0" b="0"/>
            <a:pathLst>
              <a:path w="953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/>
          <a:ln w="20003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4" name="vector-171">
            <a:extLst>
              <a:ext uri="{FF2B5EF4-FFF2-40B4-BE49-F238E27FC236}">
                <a16:creationId xmlns:a16="http://schemas.microsoft.com/office/drawing/2014/main" id="{7EC5DD52-BD13-4A8D-AAA4-C86F744BC263}"/>
              </a:ext>
            </a:extLst>
          </p:cNvPr>
          <p:cNvSpPr>
            <a:spLocks noGrp="1"/>
          </p:cNvSpPr>
          <p:nvPr/>
        </p:nvSpPr>
        <p:spPr>
          <a:xfrm>
            <a:off x="9667875" y="4391025"/>
            <a:ext cx="2286000" cy="25717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finite-sample quantile</a:t>
            </a:r>
          </a:p>
        </p:txBody>
      </p:sp>
      <p:sp>
        <p:nvSpPr>
          <p:cNvPr id="185" name="vector-172">
            <a:extLst>
              <a:ext uri="{FF2B5EF4-FFF2-40B4-BE49-F238E27FC236}">
                <a16:creationId xmlns:a16="http://schemas.microsoft.com/office/drawing/2014/main" id="{61C15970-C708-4645-A3D9-1C4B0AE63E92}"/>
              </a:ext>
            </a:extLst>
          </p:cNvPr>
          <p:cNvSpPr>
            <a:spLocks noGrp="1"/>
          </p:cNvSpPr>
          <p:nvPr/>
        </p:nvSpPr>
        <p:spPr>
          <a:xfrm>
            <a:off x="11515249" y="39904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86" name="vector-173">
            <a:extLst>
              <a:ext uri="{FF2B5EF4-FFF2-40B4-BE49-F238E27FC236}">
                <a16:creationId xmlns:a16="http://schemas.microsoft.com/office/drawing/2014/main" id="{8170310B-7D8A-4F3C-8597-5169E6C48828}"/>
              </a:ext>
            </a:extLst>
          </p:cNvPr>
          <p:cNvSpPr>
            <a:spLocks noGrp="1"/>
          </p:cNvSpPr>
          <p:nvPr/>
        </p:nvSpPr>
        <p:spPr>
          <a:xfrm>
            <a:off x="12172474" y="3990499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417" name="Straight Arrow Connector 416"/>
          <p:cNvCxnSpPr>
            <a:stCxn id="185" idx="3"/>
            <a:endCxn id="186" idx="1"/>
          </p:cNvCxnSpPr>
          <p:nvPr/>
        </p:nvCxnSpPr>
        <p:spPr>
          <a:xfrm>
            <a:off x="11516202" y="3990976"/>
            <a:ext cx="656272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188" name="vector-174">
            <a:extLst>
              <a:ext uri="{FF2B5EF4-FFF2-40B4-BE49-F238E27FC236}">
                <a16:creationId xmlns:a16="http://schemas.microsoft.com/office/drawing/2014/main" id="{360CF6E9-BD24-4D67-8D88-0E58ECEA4671}"/>
              </a:ext>
            </a:extLst>
          </p:cNvPr>
          <p:cNvSpPr>
            <a:spLocks noGrp="1"/>
          </p:cNvSpPr>
          <p:nvPr/>
        </p:nvSpPr>
        <p:spPr>
          <a:xfrm>
            <a:off x="12220575" y="3724275"/>
            <a:ext cx="533400" cy="533400"/>
          </a:xfrm>
          <a:prstGeom prst="ellipse">
            <a:avLst/>
          </a:prstGeom>
          <a:solidFill>
            <a:srgbClr val="E8F5F1"/>
          </a:solidFill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89" name="vector-175">
            <a:extLst>
              <a:ext uri="{FF2B5EF4-FFF2-40B4-BE49-F238E27FC236}">
                <a16:creationId xmlns:a16="http://schemas.microsoft.com/office/drawing/2014/main" id="{F2BBF9EE-7ED6-42AD-AEB4-BC3E20D25F87}"/>
              </a:ext>
            </a:extLst>
          </p:cNvPr>
          <p:cNvSpPr>
            <a:spLocks noGrp="1"/>
          </p:cNvSpPr>
          <p:nvPr/>
        </p:nvSpPr>
        <p:spPr>
          <a:xfrm>
            <a:off x="12258675" y="3790950"/>
            <a:ext cx="457200" cy="390525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8A83"/>
                </a:solidFill>
                <a:latin typeface="Arial"/>
                <a:ea typeface="Arial"/>
                <a:cs typeface="Arial"/>
              </a:rPr>
              <a:t>τ</a:t>
            </a:r>
          </a:p>
        </p:txBody>
      </p:sp>
      <p:sp>
        <p:nvSpPr>
          <p:cNvPr id="190" name="path-176">
            <a:extLst>
              <a:ext uri="{FF2B5EF4-FFF2-40B4-BE49-F238E27FC236}">
                <a16:creationId xmlns:a16="http://schemas.microsoft.com/office/drawing/2014/main" id="{2C41BE5E-9A7D-4A1D-8679-748B3C00307D}"/>
              </a:ext>
            </a:extLst>
          </p:cNvPr>
          <p:cNvSpPr>
            <a:spLocks noGrp="1"/>
          </p:cNvSpPr>
          <p:nvPr/>
        </p:nvSpPr>
        <p:spPr>
          <a:xfrm>
            <a:off x="12487275" y="4286250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1" name="path-177">
            <a:extLst>
              <a:ext uri="{FF2B5EF4-FFF2-40B4-BE49-F238E27FC236}">
                <a16:creationId xmlns:a16="http://schemas.microsoft.com/office/drawing/2014/main" id="{7A474237-C797-4286-81D0-1B3D24A14235}"/>
              </a:ext>
            </a:extLst>
          </p:cNvPr>
          <p:cNvSpPr>
            <a:spLocks noGrp="1"/>
          </p:cNvSpPr>
          <p:nvPr/>
        </p:nvSpPr>
        <p:spPr>
          <a:xfrm>
            <a:off x="12487275" y="4410075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2" name="path-178">
            <a:extLst>
              <a:ext uri="{FF2B5EF4-FFF2-40B4-BE49-F238E27FC236}">
                <a16:creationId xmlns:a16="http://schemas.microsoft.com/office/drawing/2014/main" id="{8187FBB5-8B03-4950-B89C-5A48F6A9A13B}"/>
              </a:ext>
            </a:extLst>
          </p:cNvPr>
          <p:cNvSpPr>
            <a:spLocks noGrp="1"/>
          </p:cNvSpPr>
          <p:nvPr/>
        </p:nvSpPr>
        <p:spPr>
          <a:xfrm>
            <a:off x="12487275" y="4533900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3" name="path-179">
            <a:extLst>
              <a:ext uri="{FF2B5EF4-FFF2-40B4-BE49-F238E27FC236}">
                <a16:creationId xmlns:a16="http://schemas.microsoft.com/office/drawing/2014/main" id="{C94442C0-11CB-403B-9BA3-8A0A7BF5A6E0}"/>
              </a:ext>
            </a:extLst>
          </p:cNvPr>
          <p:cNvSpPr>
            <a:spLocks noGrp="1"/>
          </p:cNvSpPr>
          <p:nvPr/>
        </p:nvSpPr>
        <p:spPr>
          <a:xfrm>
            <a:off x="12487275" y="4657725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4" name="path-180">
            <a:extLst>
              <a:ext uri="{FF2B5EF4-FFF2-40B4-BE49-F238E27FC236}">
                <a16:creationId xmlns:a16="http://schemas.microsoft.com/office/drawing/2014/main" id="{34B71965-5530-4DF3-914A-D6ED9B642043}"/>
              </a:ext>
            </a:extLst>
          </p:cNvPr>
          <p:cNvSpPr>
            <a:spLocks noGrp="1"/>
          </p:cNvSpPr>
          <p:nvPr/>
        </p:nvSpPr>
        <p:spPr>
          <a:xfrm>
            <a:off x="12487275" y="4781550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5" name="path-181">
            <a:extLst>
              <a:ext uri="{FF2B5EF4-FFF2-40B4-BE49-F238E27FC236}">
                <a16:creationId xmlns:a16="http://schemas.microsoft.com/office/drawing/2014/main" id="{16BB2372-9948-4CEE-A3D8-A989DCD87CD8}"/>
              </a:ext>
            </a:extLst>
          </p:cNvPr>
          <p:cNvSpPr>
            <a:spLocks noGrp="1"/>
          </p:cNvSpPr>
          <p:nvPr/>
        </p:nvSpPr>
        <p:spPr>
          <a:xfrm>
            <a:off x="12487275" y="4905375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6" name="path-182">
            <a:extLst>
              <a:ext uri="{FF2B5EF4-FFF2-40B4-BE49-F238E27FC236}">
                <a16:creationId xmlns:a16="http://schemas.microsoft.com/office/drawing/2014/main" id="{28E75C1C-E68D-4FC6-84AD-F535D5C6FBDC}"/>
              </a:ext>
            </a:extLst>
          </p:cNvPr>
          <p:cNvSpPr>
            <a:spLocks noGrp="1"/>
          </p:cNvSpPr>
          <p:nvPr/>
        </p:nvSpPr>
        <p:spPr>
          <a:xfrm>
            <a:off x="12487275" y="5029200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7" name="path-183">
            <a:extLst>
              <a:ext uri="{FF2B5EF4-FFF2-40B4-BE49-F238E27FC236}">
                <a16:creationId xmlns:a16="http://schemas.microsoft.com/office/drawing/2014/main" id="{D7BCB8B1-ACAF-4B9F-B939-9F35020FFDA9}"/>
              </a:ext>
            </a:extLst>
          </p:cNvPr>
          <p:cNvSpPr>
            <a:spLocks noGrp="1"/>
          </p:cNvSpPr>
          <p:nvPr/>
        </p:nvSpPr>
        <p:spPr>
          <a:xfrm>
            <a:off x="12487275" y="5153025"/>
            <a:ext cx="953" cy="66675"/>
          </a:xfrm>
          <a:custGeom>
            <a:avLst/>
            <a:gdLst/>
            <a:ahLst/>
            <a:cxnLst/>
            <a:rect l="0" t="0" r="0" b="0"/>
            <a:pathLst>
              <a:path w="953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8" name="path-184">
            <a:extLst>
              <a:ext uri="{FF2B5EF4-FFF2-40B4-BE49-F238E27FC236}">
                <a16:creationId xmlns:a16="http://schemas.microsoft.com/office/drawing/2014/main" id="{B625FE75-7B65-4507-AF1A-18F6832A3947}"/>
              </a:ext>
            </a:extLst>
          </p:cNvPr>
          <p:cNvSpPr>
            <a:spLocks noGrp="1"/>
          </p:cNvSpPr>
          <p:nvPr/>
        </p:nvSpPr>
        <p:spPr>
          <a:xfrm>
            <a:off x="12487275" y="52768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99" name="path-185">
            <a:extLst>
              <a:ext uri="{FF2B5EF4-FFF2-40B4-BE49-F238E27FC236}">
                <a16:creationId xmlns:a16="http://schemas.microsoft.com/office/drawing/2014/main" id="{05942253-E888-4FF9-B8EB-5EEB74B95B6B}"/>
              </a:ext>
            </a:extLst>
          </p:cNvPr>
          <p:cNvSpPr>
            <a:spLocks noGrp="1"/>
          </p:cNvSpPr>
          <p:nvPr/>
        </p:nvSpPr>
        <p:spPr>
          <a:xfrm>
            <a:off x="12106275" y="5334000"/>
            <a:ext cx="381000" cy="953"/>
          </a:xfrm>
          <a:custGeom>
            <a:avLst/>
            <a:gdLst/>
            <a:ahLst/>
            <a:cxnLst/>
            <a:rect l="0" t="0" r="0" b="0"/>
            <a:pathLst>
              <a:path w="381000" h="953">
                <a:moveTo>
                  <a:pt x="381000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0" name="vector-186">
            <a:extLst>
              <a:ext uri="{FF2B5EF4-FFF2-40B4-BE49-F238E27FC236}">
                <a16:creationId xmlns:a16="http://schemas.microsoft.com/office/drawing/2014/main" id="{5993E497-50AB-4994-B119-EA4750699AE1}"/>
              </a:ext>
            </a:extLst>
          </p:cNvPr>
          <p:cNvSpPr>
            <a:spLocks noGrp="1"/>
          </p:cNvSpPr>
          <p:nvPr/>
        </p:nvSpPr>
        <p:spPr>
          <a:xfrm>
            <a:off x="12105799" y="53335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01" name="vector-187">
            <a:extLst>
              <a:ext uri="{FF2B5EF4-FFF2-40B4-BE49-F238E27FC236}">
                <a16:creationId xmlns:a16="http://schemas.microsoft.com/office/drawing/2014/main" id="{64E9FAD9-C4CD-4156-9562-B2AC6A52566B}"/>
              </a:ext>
            </a:extLst>
          </p:cNvPr>
          <p:cNvSpPr>
            <a:spLocks noGrp="1"/>
          </p:cNvSpPr>
          <p:nvPr/>
        </p:nvSpPr>
        <p:spPr>
          <a:xfrm>
            <a:off x="11953399" y="53335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432" name="Straight Arrow Connector 431"/>
          <p:cNvCxnSpPr>
            <a:stCxn id="200" idx="1"/>
            <a:endCxn id="201" idx="3"/>
          </p:cNvCxnSpPr>
          <p:nvPr/>
        </p:nvCxnSpPr>
        <p:spPr>
          <a:xfrm flipH="1">
            <a:off x="11954352" y="5334001"/>
            <a:ext cx="151447" cy="0"/>
          </a:xfrm>
          <a:prstGeom prst="straightConnector1">
            <a:avLst/>
          </a:prstGeom>
          <a:ln w="17145">
            <a:solidFill>
              <a:srgbClr val="218A83"/>
            </a:solidFill>
            <a:tailEnd type="triangle" w="sm" len="sm"/>
          </a:ln>
        </p:spPr>
      </p:cxnSp>
      <p:sp>
        <p:nvSpPr>
          <p:cNvPr id="203" name="vector-188">
            <a:extLst>
              <a:ext uri="{FF2B5EF4-FFF2-40B4-BE49-F238E27FC236}">
                <a16:creationId xmlns:a16="http://schemas.microsoft.com/office/drawing/2014/main" id="{696AA917-B8D8-4430-BFE0-588C9515CA88}"/>
              </a:ext>
            </a:extLst>
          </p:cNvPr>
          <p:cNvSpPr>
            <a:spLocks noGrp="1"/>
          </p:cNvSpPr>
          <p:nvPr/>
        </p:nvSpPr>
        <p:spPr>
          <a:xfrm>
            <a:off x="8791575" y="4905375"/>
            <a:ext cx="2657475" cy="2857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max(p) − pⱼ</a:t>
            </a:r>
          </a:p>
        </p:txBody>
      </p:sp>
      <p:sp>
        <p:nvSpPr>
          <p:cNvPr id="204" name="path-189">
            <a:extLst>
              <a:ext uri="{FF2B5EF4-FFF2-40B4-BE49-F238E27FC236}">
                <a16:creationId xmlns:a16="http://schemas.microsoft.com/office/drawing/2014/main" id="{944D129D-4A4B-46A3-B4E7-B1C672708CAF}"/>
              </a:ext>
            </a:extLst>
          </p:cNvPr>
          <p:cNvSpPr>
            <a:spLocks noGrp="1"/>
          </p:cNvSpPr>
          <p:nvPr/>
        </p:nvSpPr>
        <p:spPr>
          <a:xfrm>
            <a:off x="9144000" y="5486400"/>
            <a:ext cx="2857500" cy="953"/>
          </a:xfrm>
          <a:custGeom>
            <a:avLst/>
            <a:gdLst/>
            <a:ahLst/>
            <a:cxnLst/>
            <a:rect l="0" t="0" r="0" b="0"/>
            <a:pathLst>
              <a:path w="2857500" h="953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4288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5" name="path-190">
            <a:extLst>
              <a:ext uri="{FF2B5EF4-FFF2-40B4-BE49-F238E27FC236}">
                <a16:creationId xmlns:a16="http://schemas.microsoft.com/office/drawing/2014/main" id="{5CC51835-9A46-46EB-9B64-292365D42C63}"/>
              </a:ext>
            </a:extLst>
          </p:cNvPr>
          <p:cNvSpPr>
            <a:spLocks noGrp="1"/>
          </p:cNvSpPr>
          <p:nvPr/>
        </p:nvSpPr>
        <p:spPr>
          <a:xfrm>
            <a:off x="11410950" y="5229225"/>
            <a:ext cx="953" cy="523875"/>
          </a:xfrm>
          <a:custGeom>
            <a:avLst/>
            <a:gdLst/>
            <a:ahLst/>
            <a:cxnLst/>
            <a:rect l="0" t="0" r="0" b="0"/>
            <a:pathLst>
              <a:path w="953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1905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6" name="vector-191">
            <a:extLst>
              <a:ext uri="{FF2B5EF4-FFF2-40B4-BE49-F238E27FC236}">
                <a16:creationId xmlns:a16="http://schemas.microsoft.com/office/drawing/2014/main" id="{B05345B9-5F86-4218-9A9C-3BD7A0CA44E7}"/>
              </a:ext>
            </a:extLst>
          </p:cNvPr>
          <p:cNvSpPr>
            <a:spLocks noGrp="1"/>
          </p:cNvSpPr>
          <p:nvPr/>
        </p:nvSpPr>
        <p:spPr>
          <a:xfrm>
            <a:off x="11220450" y="5762625"/>
            <a:ext cx="381000" cy="2476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8A83"/>
                </a:solidFill>
                <a:latin typeface="Arial"/>
                <a:ea typeface="Arial"/>
                <a:cs typeface="Arial"/>
              </a:rPr>
              <a:t>τ</a:t>
            </a:r>
          </a:p>
        </p:txBody>
      </p:sp>
      <p:sp>
        <p:nvSpPr>
          <p:cNvPr id="207" name="vector-192">
            <a:extLst>
              <a:ext uri="{FF2B5EF4-FFF2-40B4-BE49-F238E27FC236}">
                <a16:creationId xmlns:a16="http://schemas.microsoft.com/office/drawing/2014/main" id="{8A76B08A-60F9-4D2C-AA05-0B60ECEBACDD}"/>
              </a:ext>
            </a:extLst>
          </p:cNvPr>
          <p:cNvSpPr>
            <a:spLocks noGrp="1"/>
          </p:cNvSpPr>
          <p:nvPr/>
        </p:nvSpPr>
        <p:spPr>
          <a:xfrm>
            <a:off x="9239250" y="5362575"/>
            <a:ext cx="247650" cy="24765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8" name="vector-193">
            <a:extLst>
              <a:ext uri="{FF2B5EF4-FFF2-40B4-BE49-F238E27FC236}">
                <a16:creationId xmlns:a16="http://schemas.microsoft.com/office/drawing/2014/main" id="{DF0088EA-2ED3-40C8-A62A-916A42440797}"/>
              </a:ext>
            </a:extLst>
          </p:cNvPr>
          <p:cNvSpPr>
            <a:spLocks noGrp="1"/>
          </p:cNvSpPr>
          <p:nvPr/>
        </p:nvSpPr>
        <p:spPr>
          <a:xfrm>
            <a:off x="9324975" y="5448300"/>
            <a:ext cx="76200" cy="76200"/>
          </a:xfrm>
          <a:prstGeom prst="ellipse">
            <a:avLst/>
          </a:prstGeom>
          <a:solidFill>
            <a:srgbClr val="8B6BB4"/>
          </a:solidFill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09" name="vector-194">
            <a:extLst>
              <a:ext uri="{FF2B5EF4-FFF2-40B4-BE49-F238E27FC236}">
                <a16:creationId xmlns:a16="http://schemas.microsoft.com/office/drawing/2014/main" id="{557C4C94-4BF8-4201-904D-3334BFD8DBF8}"/>
              </a:ext>
            </a:extLst>
          </p:cNvPr>
          <p:cNvSpPr>
            <a:spLocks noGrp="1"/>
          </p:cNvSpPr>
          <p:nvPr/>
        </p:nvSpPr>
        <p:spPr>
          <a:xfrm>
            <a:off x="9153525" y="5686425"/>
            <a:ext cx="41910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210" name="vector-195">
            <a:extLst>
              <a:ext uri="{FF2B5EF4-FFF2-40B4-BE49-F238E27FC236}">
                <a16:creationId xmlns:a16="http://schemas.microsoft.com/office/drawing/2014/main" id="{15FC6AA1-E227-41FE-A2ED-DC2A5245CCA8}"/>
              </a:ext>
            </a:extLst>
          </p:cNvPr>
          <p:cNvSpPr>
            <a:spLocks noGrp="1"/>
          </p:cNvSpPr>
          <p:nvPr/>
        </p:nvSpPr>
        <p:spPr>
          <a:xfrm>
            <a:off x="10544175" y="5362575"/>
            <a:ext cx="247650" cy="24765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11" name="vector-196">
            <a:extLst>
              <a:ext uri="{FF2B5EF4-FFF2-40B4-BE49-F238E27FC236}">
                <a16:creationId xmlns:a16="http://schemas.microsoft.com/office/drawing/2014/main" id="{BE1A9750-552B-4D59-B894-37FA14203CC8}"/>
              </a:ext>
            </a:extLst>
          </p:cNvPr>
          <p:cNvSpPr>
            <a:spLocks noGrp="1"/>
          </p:cNvSpPr>
          <p:nvPr/>
        </p:nvSpPr>
        <p:spPr>
          <a:xfrm>
            <a:off x="10629900" y="5448300"/>
            <a:ext cx="76200" cy="76200"/>
          </a:xfrm>
          <a:prstGeom prst="ellipse">
            <a:avLst/>
          </a:prstGeom>
          <a:solidFill>
            <a:srgbClr val="8B6BB4"/>
          </a:solidFill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12" name="vector-197">
            <a:extLst>
              <a:ext uri="{FF2B5EF4-FFF2-40B4-BE49-F238E27FC236}">
                <a16:creationId xmlns:a16="http://schemas.microsoft.com/office/drawing/2014/main" id="{27ACF985-670C-4BC8-983B-DB9A8F2F3DAF}"/>
              </a:ext>
            </a:extLst>
          </p:cNvPr>
          <p:cNvSpPr>
            <a:spLocks noGrp="1"/>
          </p:cNvSpPr>
          <p:nvPr/>
        </p:nvSpPr>
        <p:spPr>
          <a:xfrm>
            <a:off x="10458450" y="5686425"/>
            <a:ext cx="41910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213" name="vector-198">
            <a:extLst>
              <a:ext uri="{FF2B5EF4-FFF2-40B4-BE49-F238E27FC236}">
                <a16:creationId xmlns:a16="http://schemas.microsoft.com/office/drawing/2014/main" id="{C2FDB293-C602-42F1-B64B-0BB9A7A1B567}"/>
              </a:ext>
            </a:extLst>
          </p:cNvPr>
          <p:cNvSpPr>
            <a:spLocks noGrp="1"/>
          </p:cNvSpPr>
          <p:nvPr/>
        </p:nvSpPr>
        <p:spPr>
          <a:xfrm>
            <a:off x="11687175" y="5362575"/>
            <a:ext cx="247650" cy="2476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EB7C2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14" name="vector-199">
            <a:extLst>
              <a:ext uri="{FF2B5EF4-FFF2-40B4-BE49-F238E27FC236}">
                <a16:creationId xmlns:a16="http://schemas.microsoft.com/office/drawing/2014/main" id="{0546E9AD-A405-4A74-9B8B-23EA58F64C78}"/>
              </a:ext>
            </a:extLst>
          </p:cNvPr>
          <p:cNvSpPr>
            <a:spLocks noGrp="1"/>
          </p:cNvSpPr>
          <p:nvPr/>
        </p:nvSpPr>
        <p:spPr>
          <a:xfrm>
            <a:off x="11601450" y="5686425"/>
            <a:ext cx="41910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aₖ</a:t>
            </a:r>
          </a:p>
        </p:txBody>
      </p:sp>
      <p:sp>
        <p:nvSpPr>
          <p:cNvPr id="215" name="path-200">
            <a:extLst>
              <a:ext uri="{FF2B5EF4-FFF2-40B4-BE49-F238E27FC236}">
                <a16:creationId xmlns:a16="http://schemas.microsoft.com/office/drawing/2014/main" id="{1D1C1FEE-C80E-4663-B562-84481709C944}"/>
              </a:ext>
            </a:extLst>
          </p:cNvPr>
          <p:cNvSpPr>
            <a:spLocks noGrp="1"/>
          </p:cNvSpPr>
          <p:nvPr/>
        </p:nvSpPr>
        <p:spPr>
          <a:xfrm>
            <a:off x="11410950" y="5334000"/>
            <a:ext cx="542925" cy="953"/>
          </a:xfrm>
          <a:custGeom>
            <a:avLst/>
            <a:gdLst/>
            <a:ahLst/>
            <a:cxnLst/>
            <a:rect l="0" t="0" r="0" b="0"/>
            <a:pathLst>
              <a:path w="542925" h="953">
                <a:moveTo>
                  <a:pt x="542925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18A83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16" name="vector-201">
            <a:extLst>
              <a:ext uri="{FF2B5EF4-FFF2-40B4-BE49-F238E27FC236}">
                <a16:creationId xmlns:a16="http://schemas.microsoft.com/office/drawing/2014/main" id="{136D71DC-ACA4-44C3-B727-F674C22D78F7}"/>
              </a:ext>
            </a:extLst>
          </p:cNvPr>
          <p:cNvSpPr>
            <a:spLocks noGrp="1"/>
          </p:cNvSpPr>
          <p:nvPr/>
        </p:nvSpPr>
        <p:spPr>
          <a:xfrm>
            <a:off x="9505950" y="6191250"/>
            <a:ext cx="219075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keep scores ≤ τ</a:t>
            </a:r>
          </a:p>
        </p:txBody>
      </p:sp>
      <p:sp>
        <p:nvSpPr>
          <p:cNvPr id="217" name="vector-202">
            <a:extLst>
              <a:ext uri="{FF2B5EF4-FFF2-40B4-BE49-F238E27FC236}">
                <a16:creationId xmlns:a16="http://schemas.microsoft.com/office/drawing/2014/main" id="{DD3DAFA3-5F08-4EB3-AF77-AFA71BB0DD9C}"/>
              </a:ext>
            </a:extLst>
          </p:cNvPr>
          <p:cNvSpPr>
            <a:spLocks noGrp="1"/>
          </p:cNvSpPr>
          <p:nvPr/>
        </p:nvSpPr>
        <p:spPr>
          <a:xfrm>
            <a:off x="12058174" y="54859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18" name="vector-203">
            <a:extLst>
              <a:ext uri="{FF2B5EF4-FFF2-40B4-BE49-F238E27FC236}">
                <a16:creationId xmlns:a16="http://schemas.microsoft.com/office/drawing/2014/main" id="{63030B1D-C548-4950-8378-01CA7973DDD5}"/>
              </a:ext>
            </a:extLst>
          </p:cNvPr>
          <p:cNvSpPr>
            <a:spLocks noGrp="1"/>
          </p:cNvSpPr>
          <p:nvPr/>
        </p:nvSpPr>
        <p:spPr>
          <a:xfrm>
            <a:off x="12953524" y="5485924"/>
            <a:ext cx="953" cy="953"/>
          </a:xfrm>
          <a:prstGeom prst="rect">
            <a:avLst/>
          </a:prstGeom>
          <a:noFill/>
          <a:ln w="15240">
            <a:noFill/>
          </a:ln>
        </p:spPr>
        <p:txBody>
          <a:bodyPr/>
          <a:lstStyle/>
          <a:p>
            <a:endParaRPr lang="en-AE"/>
          </a:p>
        </p:txBody>
      </p:sp>
      <p:cxnSp>
        <p:nvCxnSpPr>
          <p:cNvPr id="449" name="Straight Arrow Connector 448"/>
          <p:cNvCxnSpPr>
            <a:stCxn id="217" idx="3"/>
            <a:endCxn id="218" idx="1"/>
          </p:cNvCxnSpPr>
          <p:nvPr/>
        </p:nvCxnSpPr>
        <p:spPr>
          <a:xfrm>
            <a:off x="12059127" y="5486401"/>
            <a:ext cx="894397" cy="0"/>
          </a:xfrm>
          <a:prstGeom prst="straightConnector1">
            <a:avLst/>
          </a:prstGeom>
          <a:ln w="17145">
            <a:solidFill>
              <a:srgbClr val="8B6BB4"/>
            </a:solidFill>
            <a:tailEnd type="triangle" w="sm" len="sm"/>
          </a:ln>
        </p:spPr>
      </p:cxnSp>
      <p:sp>
        <p:nvSpPr>
          <p:cNvPr id="220" name="vector-204">
            <a:extLst>
              <a:ext uri="{FF2B5EF4-FFF2-40B4-BE49-F238E27FC236}">
                <a16:creationId xmlns:a16="http://schemas.microsoft.com/office/drawing/2014/main" id="{D046359E-AC0D-4413-BB29-F2F1312EA77D}"/>
              </a:ext>
            </a:extLst>
          </p:cNvPr>
          <p:cNvSpPr>
            <a:spLocks noGrp="1"/>
          </p:cNvSpPr>
          <p:nvPr/>
        </p:nvSpPr>
        <p:spPr>
          <a:xfrm>
            <a:off x="13011150" y="5181600"/>
            <a:ext cx="295275" cy="5715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675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221" name="vector-205">
            <a:extLst>
              <a:ext uri="{FF2B5EF4-FFF2-40B4-BE49-F238E27FC236}">
                <a16:creationId xmlns:a16="http://schemas.microsoft.com/office/drawing/2014/main" id="{1DCD5D1A-C70C-4651-88DC-B93E2DA99DCD}"/>
              </a:ext>
            </a:extLst>
          </p:cNvPr>
          <p:cNvSpPr>
            <a:spLocks noGrp="1"/>
          </p:cNvSpPr>
          <p:nvPr/>
        </p:nvSpPr>
        <p:spPr>
          <a:xfrm>
            <a:off x="13296900" y="5257800"/>
            <a:ext cx="457200" cy="45720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22" name="vector-206">
            <a:extLst>
              <a:ext uri="{FF2B5EF4-FFF2-40B4-BE49-F238E27FC236}">
                <a16:creationId xmlns:a16="http://schemas.microsoft.com/office/drawing/2014/main" id="{AC405983-7DBC-4239-99A9-958E43254E00}"/>
              </a:ext>
            </a:extLst>
          </p:cNvPr>
          <p:cNvSpPr>
            <a:spLocks noGrp="1"/>
          </p:cNvSpPr>
          <p:nvPr/>
        </p:nvSpPr>
        <p:spPr>
          <a:xfrm>
            <a:off x="13306425" y="5314950"/>
            <a:ext cx="438150" cy="3238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223" name="vector-207">
            <a:extLst>
              <a:ext uri="{FF2B5EF4-FFF2-40B4-BE49-F238E27FC236}">
                <a16:creationId xmlns:a16="http://schemas.microsoft.com/office/drawing/2014/main" id="{880C515D-B74B-46F8-A29F-031FF1BA75F8}"/>
              </a:ext>
            </a:extLst>
          </p:cNvPr>
          <p:cNvSpPr>
            <a:spLocks noGrp="1"/>
          </p:cNvSpPr>
          <p:nvPr/>
        </p:nvSpPr>
        <p:spPr>
          <a:xfrm>
            <a:off x="13868400" y="5257800"/>
            <a:ext cx="457200" cy="457200"/>
          </a:xfrm>
          <a:prstGeom prst="ellipse">
            <a:avLst/>
          </a:prstGeom>
          <a:solidFill>
            <a:srgbClr val="F4EFF9"/>
          </a:solidFill>
          <a:ln w="15240">
            <a:solidFill>
              <a:srgbClr val="8B6BB4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24" name="vector-208">
            <a:extLst>
              <a:ext uri="{FF2B5EF4-FFF2-40B4-BE49-F238E27FC236}">
                <a16:creationId xmlns:a16="http://schemas.microsoft.com/office/drawing/2014/main" id="{4A2797E0-1BD9-4A30-B9A9-057ED8FA6F7B}"/>
              </a:ext>
            </a:extLst>
          </p:cNvPr>
          <p:cNvSpPr>
            <a:spLocks noGrp="1"/>
          </p:cNvSpPr>
          <p:nvPr/>
        </p:nvSpPr>
        <p:spPr>
          <a:xfrm>
            <a:off x="13877925" y="5314950"/>
            <a:ext cx="438150" cy="32385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225" name="vector-209">
            <a:extLst>
              <a:ext uri="{FF2B5EF4-FFF2-40B4-BE49-F238E27FC236}">
                <a16:creationId xmlns:a16="http://schemas.microsoft.com/office/drawing/2014/main" id="{ECC6FB6C-BEE1-403A-A170-E22D47B97F34}"/>
              </a:ext>
            </a:extLst>
          </p:cNvPr>
          <p:cNvSpPr>
            <a:spLocks noGrp="1"/>
          </p:cNvSpPr>
          <p:nvPr/>
        </p:nvSpPr>
        <p:spPr>
          <a:xfrm>
            <a:off x="14344650" y="5181600"/>
            <a:ext cx="295275" cy="5715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675" b="0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8B6BB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226" name="vector-210">
            <a:extLst>
              <a:ext uri="{FF2B5EF4-FFF2-40B4-BE49-F238E27FC236}">
                <a16:creationId xmlns:a16="http://schemas.microsoft.com/office/drawing/2014/main" id="{0CB3EADD-7DCD-4573-ADD6-570C5C318146}"/>
              </a:ext>
            </a:extLst>
          </p:cNvPr>
          <p:cNvSpPr>
            <a:spLocks noGrp="1"/>
          </p:cNvSpPr>
          <p:nvPr/>
        </p:nvSpPr>
        <p:spPr>
          <a:xfrm>
            <a:off x="12715875" y="6029325"/>
            <a:ext cx="219075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prediction set Γ</a:t>
            </a:r>
          </a:p>
        </p:txBody>
      </p:sp>
      <p:sp>
        <p:nvSpPr>
          <p:cNvPr id="227" name="vector-211">
            <a:extLst>
              <a:ext uri="{FF2B5EF4-FFF2-40B4-BE49-F238E27FC236}">
                <a16:creationId xmlns:a16="http://schemas.microsoft.com/office/drawing/2014/main" id="{A89552D9-1394-4D77-B063-B6F430B529AE}"/>
              </a:ext>
            </a:extLst>
          </p:cNvPr>
          <p:cNvSpPr>
            <a:spLocks noGrp="1"/>
          </p:cNvSpPr>
          <p:nvPr/>
        </p:nvSpPr>
        <p:spPr>
          <a:xfrm>
            <a:off x="9744075" y="6762750"/>
            <a:ext cx="3409950" cy="3048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8A83"/>
                </a:solidFill>
                <a:latin typeface="Arial"/>
                <a:ea typeface="Arial"/>
                <a:cs typeface="Arial"/>
              </a:rPr>
              <a:t>P(y ∈ Γ) ≥ 1 − α</a:t>
            </a:r>
          </a:p>
        </p:txBody>
      </p:sp>
      <p:sp>
        <p:nvSpPr>
          <p:cNvPr id="228" name="vector-212">
            <a:extLst>
              <a:ext uri="{FF2B5EF4-FFF2-40B4-BE49-F238E27FC236}">
                <a16:creationId xmlns:a16="http://schemas.microsoft.com/office/drawing/2014/main" id="{10E25608-06B9-4C8D-A5AF-76984CE706CD}"/>
              </a:ext>
            </a:extLst>
          </p:cNvPr>
          <p:cNvSpPr>
            <a:spLocks noGrp="1"/>
          </p:cNvSpPr>
          <p:nvPr/>
        </p:nvSpPr>
        <p:spPr>
          <a:xfrm>
            <a:off x="8562975" y="7134225"/>
            <a:ext cx="582930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marginal coverage under exchangeability</a:t>
            </a:r>
          </a:p>
        </p:txBody>
      </p:sp>
      <p:sp>
        <p:nvSpPr>
          <p:cNvPr id="229" name="path-213">
            <a:extLst>
              <a:ext uri="{FF2B5EF4-FFF2-40B4-BE49-F238E27FC236}">
                <a16:creationId xmlns:a16="http://schemas.microsoft.com/office/drawing/2014/main" id="{17987FE5-2960-4969-82D5-48A88BBEFFFB}"/>
              </a:ext>
            </a:extLst>
          </p:cNvPr>
          <p:cNvSpPr>
            <a:spLocks noGrp="1"/>
          </p:cNvSpPr>
          <p:nvPr/>
        </p:nvSpPr>
        <p:spPr>
          <a:xfrm>
            <a:off x="476250" y="7639050"/>
            <a:ext cx="14287500" cy="953"/>
          </a:xfrm>
          <a:custGeom>
            <a:avLst/>
            <a:gdLst/>
            <a:ahLst/>
            <a:cxnLst/>
            <a:rect l="0" t="0" r="0" b="0"/>
            <a:pathLst>
              <a:path w="14287500" h="953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/>
          <a:ln w="12383">
            <a:solidFill>
              <a:srgbClr val="E7EBF0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30" name="vector-214">
            <a:extLst>
              <a:ext uri="{FF2B5EF4-FFF2-40B4-BE49-F238E27FC236}">
                <a16:creationId xmlns:a16="http://schemas.microsoft.com/office/drawing/2014/main" id="{4F48CEEE-9492-44FF-BA94-E98CE0EAA287}"/>
              </a:ext>
            </a:extLst>
          </p:cNvPr>
          <p:cNvSpPr>
            <a:spLocks noGrp="1"/>
          </p:cNvSpPr>
          <p:nvPr/>
        </p:nvSpPr>
        <p:spPr>
          <a:xfrm>
            <a:off x="428625" y="7743825"/>
            <a:ext cx="14382750" cy="266700"/>
          </a:xfrm>
          <a:prstGeom prst="rect">
            <a:avLst/>
          </a:prstGeom>
          <a:noFill/>
          <a:ln w="1524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747E8A"/>
                </a:solidFill>
                <a:latin typeface="Arial"/>
                <a:ea typeface="Arial"/>
                <a:cs typeface="Arial"/>
              </a:rPr>
              <a:t>Post-hoc candidate scores, no weight updates. </a:t>
            </a:r>
            <a:r>
              <a:rPr sz="1650" dirty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AR generation is excluded</a:t>
            </a:r>
            <a:r>
              <a:rPr lang="en-US" sz="1650" dirty="0">
                <a:solidFill>
                  <a:srgbClr val="747E8A"/>
                </a:solidFill>
                <a:latin typeface="Arial"/>
                <a:ea typeface="Arial"/>
                <a:cs typeface="Arial"/>
              </a:rPr>
              <a:t> due to its</a:t>
            </a:r>
            <a:r>
              <a:rPr sz="1650" b="0" dirty="0">
                <a:solidFill>
                  <a:srgbClr val="747E8A"/>
                </a:solidFill>
                <a:latin typeface="Arial"/>
                <a:ea typeface="Arial"/>
                <a:cs typeface="Arial"/>
              </a:rPr>
              <a:t> free-form output.</a:t>
            </a:r>
          </a:p>
        </p:txBody>
      </p:sp>
    </p:spTree>
    <p:extLst>
      <p:ext uri="{BB962C8B-B14F-4D97-AF65-F5344CB8AC3E}">
        <p14:creationId xmlns:p14="http://schemas.microsoft.com/office/powerpoint/2010/main" val="1359048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Microsoft Macintosh PowerPoint</Application>
  <DocSecurity>0</DocSecurity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Raza Imam</cp:lastModifiedBy>
  <cp:revision>2</cp:revision>
  <dcterms:created xsi:type="dcterms:W3CDTF">2026-10-01T10:40:19Z</dcterms:created>
  <dcterms:modified xsi:type="dcterms:W3CDTF">2026-10-01T11:08:58Z</dcterms:modified>
</cp:coreProperties>
</file>