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600075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23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Shared input: any one of Label likelihood, Head on AR, or Head on NAR supplies normalized per-candidate probabilities. These are alternative interfaces, not an ensemble. AR generation in this study is excluded because its chosen interface emits free-form text rather than candidate scores. No backbone or decision-head weights are updated.</a:t>
            </a:r>
          </a:p>
          <a:p>
            <a:r>
              <a:t>Routing: calibrated max probability or top-two probability gap is thresholded at tau. Above threshold, accept the argmax candidate; otherwise route/abstain. The accuracy-coverage curve is schematic, not empirical data.</a:t>
            </a:r>
          </a:p>
          <a:p>
            <a:r>
              <a:t>Conformal step 1: on held-out labeled calibration examples, calculate each true-label gap s_i=max_j p_ij-p_i,y_i. For n calibration examples choose r=ceil((n+1)(1-alpha)), and tau=s_(r), or infinity if r&gt;n. This is a finite-sample-corrected quantile. A raw unadjusted (1-alpha) quantile with interpolation method 'higher' alone is not sufficient for finite-sample validity.</a:t>
            </a:r>
          </a:p>
          <a:p>
            <a:r>
              <a:t>Step 2: for a test example calculate r_j=max_l p_l-p_j for each candidate. The best candidate has gap zero. Keep all candidates with r_j&lt;=tau to form the prediction set Gamma. Purple gap bars indicate retained candidates; the gray long gap indicates an excluded candidate. All bars are schematic, and omitted candidates are represented by the subscript k. Under exchangeability of calibration and test data, and a fixed score function, P(Y in Gamma(X))&gt;=1-alpha marginally. Any temperature fitting is separate from the conformal calibration split unless justified otherwise.</a:t>
            </a:r>
          </a:p>
          <a:p>
            <a:r>
              <a:t>Technical reference: https://statgrades.berkeley.edu/~ryantibs/statlearn-s24/lectures/conformal.pdf . User-named implementation files were not supplied or inspected. All visible content is native editable PowerPoint vectors and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ath-1">
            <a:extLst>
              <a:ext uri="{FF2B5EF4-FFF2-40B4-BE49-F238E27FC236}">
                <a16:creationId xmlns:a16="http://schemas.microsoft.com/office/drawing/2014/main" id="{C5B12BEA-95A5-4B4F-9D6B-BF369F2F03F5}"/>
              </a:ext>
            </a:extLst>
          </p:cNvPr>
          <p:cNvSpPr>
            <a:spLocks noGrp="1"/>
          </p:cNvSpPr>
          <p:nvPr/>
        </p:nvSpPr>
        <p:spPr>
          <a:xfrm>
            <a:off x="866775" y="21717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" name="path-2">
            <a:extLst>
              <a:ext uri="{FF2B5EF4-FFF2-40B4-BE49-F238E27FC236}">
                <a16:creationId xmlns:a16="http://schemas.microsoft.com/office/drawing/2014/main" id="{0C1BBF7A-97B3-44AC-830C-0573DDD6BF52}"/>
              </a:ext>
            </a:extLst>
          </p:cNvPr>
          <p:cNvSpPr>
            <a:spLocks noGrp="1"/>
          </p:cNvSpPr>
          <p:nvPr/>
        </p:nvSpPr>
        <p:spPr>
          <a:xfrm>
            <a:off x="866775" y="17526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" name="path-3">
            <a:extLst>
              <a:ext uri="{FF2B5EF4-FFF2-40B4-BE49-F238E27FC236}">
                <a16:creationId xmlns:a16="http://schemas.microsoft.com/office/drawing/2014/main" id="{6775EFD5-F1E4-443D-9771-24401AF3946D}"/>
              </a:ext>
            </a:extLst>
          </p:cNvPr>
          <p:cNvSpPr>
            <a:spLocks noGrp="1"/>
          </p:cNvSpPr>
          <p:nvPr/>
        </p:nvSpPr>
        <p:spPr>
          <a:xfrm>
            <a:off x="866775" y="13335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" name="path-4">
            <a:extLst>
              <a:ext uri="{FF2B5EF4-FFF2-40B4-BE49-F238E27FC236}">
                <a16:creationId xmlns:a16="http://schemas.microsoft.com/office/drawing/2014/main" id="{4F3027C6-49AA-41E2-BCA8-B000CEE50B60}"/>
              </a:ext>
            </a:extLst>
          </p:cNvPr>
          <p:cNvSpPr>
            <a:spLocks noGrp="1"/>
          </p:cNvSpPr>
          <p:nvPr/>
        </p:nvSpPr>
        <p:spPr>
          <a:xfrm>
            <a:off x="1103376" y="16725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4F3397BD-98DC-4C47-9B8D-0CBC79B953BE}"/>
              </a:ext>
            </a:extLst>
          </p:cNvPr>
          <p:cNvSpPr>
            <a:spLocks noGrp="1"/>
          </p:cNvSpPr>
          <p:nvPr/>
        </p:nvSpPr>
        <p:spPr>
          <a:xfrm>
            <a:off x="105384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34956898-CF5D-44F3-8ECB-8504C33CF153}"/>
              </a:ext>
            </a:extLst>
          </p:cNvPr>
          <p:cNvSpPr>
            <a:spLocks noGrp="1"/>
          </p:cNvSpPr>
          <p:nvPr/>
        </p:nvSpPr>
        <p:spPr>
          <a:xfrm>
            <a:off x="100431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" name="path-7">
            <a:extLst>
              <a:ext uri="{FF2B5EF4-FFF2-40B4-BE49-F238E27FC236}">
                <a16:creationId xmlns:a16="http://schemas.microsoft.com/office/drawing/2014/main" id="{AD02B891-1296-4F10-A681-F7336F59F802}"/>
              </a:ext>
            </a:extLst>
          </p:cNvPr>
          <p:cNvSpPr>
            <a:spLocks noGrp="1"/>
          </p:cNvSpPr>
          <p:nvPr/>
        </p:nvSpPr>
        <p:spPr>
          <a:xfrm>
            <a:off x="95478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8" name="path-8">
            <a:extLst>
              <a:ext uri="{FF2B5EF4-FFF2-40B4-BE49-F238E27FC236}">
                <a16:creationId xmlns:a16="http://schemas.microsoft.com/office/drawing/2014/main" id="{A7F4102C-A2AB-4140-B12E-D8A01E61B16F}"/>
              </a:ext>
            </a:extLst>
          </p:cNvPr>
          <p:cNvSpPr>
            <a:spLocks noGrp="1"/>
          </p:cNvSpPr>
          <p:nvPr/>
        </p:nvSpPr>
        <p:spPr>
          <a:xfrm>
            <a:off x="115290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path-9">
            <a:extLst>
              <a:ext uri="{FF2B5EF4-FFF2-40B4-BE49-F238E27FC236}">
                <a16:creationId xmlns:a16="http://schemas.microsoft.com/office/drawing/2014/main" id="{1AABFE5F-B107-42B8-B71D-605AD50FF8AA}"/>
              </a:ext>
            </a:extLst>
          </p:cNvPr>
          <p:cNvSpPr>
            <a:spLocks noGrp="1"/>
          </p:cNvSpPr>
          <p:nvPr/>
        </p:nvSpPr>
        <p:spPr>
          <a:xfrm>
            <a:off x="110337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" name="path-10">
            <a:extLst>
              <a:ext uri="{FF2B5EF4-FFF2-40B4-BE49-F238E27FC236}">
                <a16:creationId xmlns:a16="http://schemas.microsoft.com/office/drawing/2014/main" id="{05927533-D83F-4DBA-8F0A-04A1F847EF65}"/>
              </a:ext>
            </a:extLst>
          </p:cNvPr>
          <p:cNvSpPr>
            <a:spLocks noGrp="1"/>
          </p:cNvSpPr>
          <p:nvPr/>
        </p:nvSpPr>
        <p:spPr>
          <a:xfrm>
            <a:off x="105384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" name="path-11">
            <a:extLst>
              <a:ext uri="{FF2B5EF4-FFF2-40B4-BE49-F238E27FC236}">
                <a16:creationId xmlns:a16="http://schemas.microsoft.com/office/drawing/2014/main" id="{3963BC4C-594F-4DFD-997E-1DB0D6263A4C}"/>
              </a:ext>
            </a:extLst>
          </p:cNvPr>
          <p:cNvSpPr>
            <a:spLocks noGrp="1"/>
          </p:cNvSpPr>
          <p:nvPr/>
        </p:nvSpPr>
        <p:spPr>
          <a:xfrm>
            <a:off x="100431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path-12">
            <a:extLst>
              <a:ext uri="{FF2B5EF4-FFF2-40B4-BE49-F238E27FC236}">
                <a16:creationId xmlns:a16="http://schemas.microsoft.com/office/drawing/2014/main" id="{F8243625-FC42-4AAC-A6E4-E274CABBA452}"/>
              </a:ext>
            </a:extLst>
          </p:cNvPr>
          <p:cNvSpPr>
            <a:spLocks noGrp="1"/>
          </p:cNvSpPr>
          <p:nvPr/>
        </p:nvSpPr>
        <p:spPr>
          <a:xfrm>
            <a:off x="120243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" name="path-13">
            <a:extLst>
              <a:ext uri="{FF2B5EF4-FFF2-40B4-BE49-F238E27FC236}">
                <a16:creationId xmlns:a16="http://schemas.microsoft.com/office/drawing/2014/main" id="{748D168E-4A91-4912-A309-2A41640EFC61}"/>
              </a:ext>
            </a:extLst>
          </p:cNvPr>
          <p:cNvSpPr>
            <a:spLocks noGrp="1"/>
          </p:cNvSpPr>
          <p:nvPr/>
        </p:nvSpPr>
        <p:spPr>
          <a:xfrm>
            <a:off x="115290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" name="path-14">
            <a:extLst>
              <a:ext uri="{FF2B5EF4-FFF2-40B4-BE49-F238E27FC236}">
                <a16:creationId xmlns:a16="http://schemas.microsoft.com/office/drawing/2014/main" id="{12BF8237-8D0F-4400-85A3-629C577AEFB8}"/>
              </a:ext>
            </a:extLst>
          </p:cNvPr>
          <p:cNvSpPr>
            <a:spLocks noGrp="1"/>
          </p:cNvSpPr>
          <p:nvPr/>
        </p:nvSpPr>
        <p:spPr>
          <a:xfrm>
            <a:off x="110337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path-15">
            <a:extLst>
              <a:ext uri="{FF2B5EF4-FFF2-40B4-BE49-F238E27FC236}">
                <a16:creationId xmlns:a16="http://schemas.microsoft.com/office/drawing/2014/main" id="{6D6A729B-42FE-4916-9BA9-17432DED722A}"/>
              </a:ext>
            </a:extLst>
          </p:cNvPr>
          <p:cNvSpPr>
            <a:spLocks noGrp="1"/>
          </p:cNvSpPr>
          <p:nvPr/>
        </p:nvSpPr>
        <p:spPr>
          <a:xfrm>
            <a:off x="105384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" name="path-16">
            <a:extLst>
              <a:ext uri="{FF2B5EF4-FFF2-40B4-BE49-F238E27FC236}">
                <a16:creationId xmlns:a16="http://schemas.microsoft.com/office/drawing/2014/main" id="{9014EC3E-8779-45B3-90B6-3C39E4E813CF}"/>
              </a:ext>
            </a:extLst>
          </p:cNvPr>
          <p:cNvSpPr>
            <a:spLocks noGrp="1"/>
          </p:cNvSpPr>
          <p:nvPr/>
        </p:nvSpPr>
        <p:spPr>
          <a:xfrm>
            <a:off x="125196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" name="path-17">
            <a:extLst>
              <a:ext uri="{FF2B5EF4-FFF2-40B4-BE49-F238E27FC236}">
                <a16:creationId xmlns:a16="http://schemas.microsoft.com/office/drawing/2014/main" id="{90462809-C980-4D1F-96E1-7B000FF59ED4}"/>
              </a:ext>
            </a:extLst>
          </p:cNvPr>
          <p:cNvSpPr>
            <a:spLocks noGrp="1"/>
          </p:cNvSpPr>
          <p:nvPr/>
        </p:nvSpPr>
        <p:spPr>
          <a:xfrm>
            <a:off x="120243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2FF5889B-491F-4368-A9B1-B9A7F433D83D}"/>
              </a:ext>
            </a:extLst>
          </p:cNvPr>
          <p:cNvSpPr>
            <a:spLocks noGrp="1"/>
          </p:cNvSpPr>
          <p:nvPr/>
        </p:nvSpPr>
        <p:spPr>
          <a:xfrm>
            <a:off x="115290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D8297C83-0627-4848-B558-8D3580532F36}"/>
              </a:ext>
            </a:extLst>
          </p:cNvPr>
          <p:cNvSpPr>
            <a:spLocks noGrp="1"/>
          </p:cNvSpPr>
          <p:nvPr/>
        </p:nvSpPr>
        <p:spPr>
          <a:xfrm>
            <a:off x="1103376" y="31584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" name="vector-20">
            <a:extLst>
              <a:ext uri="{FF2B5EF4-FFF2-40B4-BE49-F238E27FC236}">
                <a16:creationId xmlns:a16="http://schemas.microsoft.com/office/drawing/2014/main" id="{720CFADC-F3F9-47DE-91C1-9C9BCF5DC68F}"/>
              </a:ext>
            </a:extLst>
          </p:cNvPr>
          <p:cNvSpPr>
            <a:spLocks noGrp="1"/>
          </p:cNvSpPr>
          <p:nvPr/>
        </p:nvSpPr>
        <p:spPr>
          <a:xfrm>
            <a:off x="1428274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1" name="vector-21">
            <a:extLst>
              <a:ext uri="{FF2B5EF4-FFF2-40B4-BE49-F238E27FC236}">
                <a16:creationId xmlns:a16="http://schemas.microsoft.com/office/drawing/2014/main" id="{9C9E338F-263F-4A81-8B6A-1871AE264420}"/>
              </a:ext>
            </a:extLst>
          </p:cNvPr>
          <p:cNvSpPr>
            <a:spLocks noGrp="1"/>
          </p:cNvSpPr>
          <p:nvPr/>
        </p:nvSpPr>
        <p:spPr>
          <a:xfrm>
            <a:off x="1809274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42" name="Straight Arrow Connector 241"/>
          <p:cNvCxnSpPr>
            <a:stCxn id="20" idx="3"/>
            <a:endCxn id="21" idx="1"/>
          </p:cNvCxnSpPr>
          <p:nvPr/>
        </p:nvCxnSpPr>
        <p:spPr>
          <a:xfrm>
            <a:off x="1429227" y="314326"/>
            <a:ext cx="380047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23" name="vector-22">
            <a:extLst>
              <a:ext uri="{FF2B5EF4-FFF2-40B4-BE49-F238E27FC236}">
                <a16:creationId xmlns:a16="http://schemas.microsoft.com/office/drawing/2014/main" id="{E7A7B1C5-353A-4521-9E87-1967139AAEF0}"/>
              </a:ext>
            </a:extLst>
          </p:cNvPr>
          <p:cNvSpPr>
            <a:spLocks noGrp="1"/>
          </p:cNvSpPr>
          <p:nvPr/>
        </p:nvSpPr>
        <p:spPr>
          <a:xfrm>
            <a:off x="1933575" y="180975"/>
            <a:ext cx="228600" cy="66675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4" name="vector-23">
            <a:extLst>
              <a:ext uri="{FF2B5EF4-FFF2-40B4-BE49-F238E27FC236}">
                <a16:creationId xmlns:a16="http://schemas.microsoft.com/office/drawing/2014/main" id="{74CE8C20-B686-41B4-A866-46B4F6827FB8}"/>
              </a:ext>
            </a:extLst>
          </p:cNvPr>
          <p:cNvSpPr>
            <a:spLocks noGrp="1"/>
          </p:cNvSpPr>
          <p:nvPr/>
        </p:nvSpPr>
        <p:spPr>
          <a:xfrm>
            <a:off x="1933575" y="295275"/>
            <a:ext cx="447675" cy="66675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5" name="vector-24">
            <a:extLst>
              <a:ext uri="{FF2B5EF4-FFF2-40B4-BE49-F238E27FC236}">
                <a16:creationId xmlns:a16="http://schemas.microsoft.com/office/drawing/2014/main" id="{DB89CCC1-20B8-41D7-AD66-AE0AABD5A053}"/>
              </a:ext>
            </a:extLst>
          </p:cNvPr>
          <p:cNvSpPr>
            <a:spLocks noGrp="1"/>
          </p:cNvSpPr>
          <p:nvPr/>
        </p:nvSpPr>
        <p:spPr>
          <a:xfrm>
            <a:off x="1933575" y="409575"/>
            <a:ext cx="142875" cy="66675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6" name="vector-25">
            <a:extLst>
              <a:ext uri="{FF2B5EF4-FFF2-40B4-BE49-F238E27FC236}">
                <a16:creationId xmlns:a16="http://schemas.microsoft.com/office/drawing/2014/main" id="{6541AB1E-2AEF-4186-9518-F3B757BC3CD6}"/>
              </a:ext>
            </a:extLst>
          </p:cNvPr>
          <p:cNvSpPr>
            <a:spLocks noGrp="1"/>
          </p:cNvSpPr>
          <p:nvPr/>
        </p:nvSpPr>
        <p:spPr>
          <a:xfrm>
            <a:off x="381000" y="609600"/>
            <a:ext cx="2667000" cy="2952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Label likelihood</a:t>
            </a:r>
          </a:p>
        </p:txBody>
      </p:sp>
      <p:sp>
        <p:nvSpPr>
          <p:cNvPr id="27" name="path-26">
            <a:extLst>
              <a:ext uri="{FF2B5EF4-FFF2-40B4-BE49-F238E27FC236}">
                <a16:creationId xmlns:a16="http://schemas.microsoft.com/office/drawing/2014/main" id="{512C91CA-D478-47DA-9124-F138384A23BD}"/>
              </a:ext>
            </a:extLst>
          </p:cNvPr>
          <p:cNvSpPr>
            <a:spLocks noGrp="1"/>
          </p:cNvSpPr>
          <p:nvPr/>
        </p:nvSpPr>
        <p:spPr>
          <a:xfrm>
            <a:off x="1714500" y="962025"/>
            <a:ext cx="953" cy="142875"/>
          </a:xfrm>
          <a:custGeom>
            <a:avLst/>
            <a:gdLst/>
            <a:ahLst/>
            <a:cxnLst/>
            <a:rect l="0" t="0" r="0" b="0"/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8" name="path-27">
            <a:extLst>
              <a:ext uri="{FF2B5EF4-FFF2-40B4-BE49-F238E27FC236}">
                <a16:creationId xmlns:a16="http://schemas.microsoft.com/office/drawing/2014/main" id="{50A0F483-B5F7-4868-B792-C036F96B275A}"/>
              </a:ext>
            </a:extLst>
          </p:cNvPr>
          <p:cNvSpPr>
            <a:spLocks noGrp="1"/>
          </p:cNvSpPr>
          <p:nvPr/>
        </p:nvSpPr>
        <p:spPr>
          <a:xfrm>
            <a:off x="3819525" y="21717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9" name="path-28">
            <a:extLst>
              <a:ext uri="{FF2B5EF4-FFF2-40B4-BE49-F238E27FC236}">
                <a16:creationId xmlns:a16="http://schemas.microsoft.com/office/drawing/2014/main" id="{76075C17-A3B7-4046-A690-F84067ED38BB}"/>
              </a:ext>
            </a:extLst>
          </p:cNvPr>
          <p:cNvSpPr>
            <a:spLocks noGrp="1"/>
          </p:cNvSpPr>
          <p:nvPr/>
        </p:nvSpPr>
        <p:spPr>
          <a:xfrm>
            <a:off x="3819525" y="17526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0" name="path-29">
            <a:extLst>
              <a:ext uri="{FF2B5EF4-FFF2-40B4-BE49-F238E27FC236}">
                <a16:creationId xmlns:a16="http://schemas.microsoft.com/office/drawing/2014/main" id="{7F441501-A9BE-47FF-93D3-2F3F435F653B}"/>
              </a:ext>
            </a:extLst>
          </p:cNvPr>
          <p:cNvSpPr>
            <a:spLocks noGrp="1"/>
          </p:cNvSpPr>
          <p:nvPr/>
        </p:nvSpPr>
        <p:spPr>
          <a:xfrm>
            <a:off x="3819525" y="13335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1" name="path-30">
            <a:extLst>
              <a:ext uri="{FF2B5EF4-FFF2-40B4-BE49-F238E27FC236}">
                <a16:creationId xmlns:a16="http://schemas.microsoft.com/office/drawing/2014/main" id="{21B7B9B8-5796-4A0E-9DBF-068CF813F296}"/>
              </a:ext>
            </a:extLst>
          </p:cNvPr>
          <p:cNvSpPr>
            <a:spLocks noGrp="1"/>
          </p:cNvSpPr>
          <p:nvPr/>
        </p:nvSpPr>
        <p:spPr>
          <a:xfrm>
            <a:off x="4056126" y="16725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2" name="path-31">
            <a:extLst>
              <a:ext uri="{FF2B5EF4-FFF2-40B4-BE49-F238E27FC236}">
                <a16:creationId xmlns:a16="http://schemas.microsoft.com/office/drawing/2014/main" id="{232E0072-F239-466F-9BCB-22E31ED584D4}"/>
              </a:ext>
            </a:extLst>
          </p:cNvPr>
          <p:cNvSpPr>
            <a:spLocks noGrp="1"/>
          </p:cNvSpPr>
          <p:nvPr/>
        </p:nvSpPr>
        <p:spPr>
          <a:xfrm>
            <a:off x="400659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3" name="path-32">
            <a:extLst>
              <a:ext uri="{FF2B5EF4-FFF2-40B4-BE49-F238E27FC236}">
                <a16:creationId xmlns:a16="http://schemas.microsoft.com/office/drawing/2014/main" id="{DD8C9982-5CF9-4663-BE96-C96D01072B00}"/>
              </a:ext>
            </a:extLst>
          </p:cNvPr>
          <p:cNvSpPr>
            <a:spLocks noGrp="1"/>
          </p:cNvSpPr>
          <p:nvPr/>
        </p:nvSpPr>
        <p:spPr>
          <a:xfrm>
            <a:off x="395706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4" name="path-33">
            <a:extLst>
              <a:ext uri="{FF2B5EF4-FFF2-40B4-BE49-F238E27FC236}">
                <a16:creationId xmlns:a16="http://schemas.microsoft.com/office/drawing/2014/main" id="{F411F216-27C5-4DF1-BDB1-3B3FC6B16289}"/>
              </a:ext>
            </a:extLst>
          </p:cNvPr>
          <p:cNvSpPr>
            <a:spLocks noGrp="1"/>
          </p:cNvSpPr>
          <p:nvPr/>
        </p:nvSpPr>
        <p:spPr>
          <a:xfrm>
            <a:off x="390753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5" name="path-34">
            <a:extLst>
              <a:ext uri="{FF2B5EF4-FFF2-40B4-BE49-F238E27FC236}">
                <a16:creationId xmlns:a16="http://schemas.microsoft.com/office/drawing/2014/main" id="{6D453039-6353-46D3-906B-7282968BEC34}"/>
              </a:ext>
            </a:extLst>
          </p:cNvPr>
          <p:cNvSpPr>
            <a:spLocks noGrp="1"/>
          </p:cNvSpPr>
          <p:nvPr/>
        </p:nvSpPr>
        <p:spPr>
          <a:xfrm>
            <a:off x="410565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6" name="path-35">
            <a:extLst>
              <a:ext uri="{FF2B5EF4-FFF2-40B4-BE49-F238E27FC236}">
                <a16:creationId xmlns:a16="http://schemas.microsoft.com/office/drawing/2014/main" id="{188A31A6-6603-4504-88E7-59DA54A43AFF}"/>
              </a:ext>
            </a:extLst>
          </p:cNvPr>
          <p:cNvSpPr>
            <a:spLocks noGrp="1"/>
          </p:cNvSpPr>
          <p:nvPr/>
        </p:nvSpPr>
        <p:spPr>
          <a:xfrm>
            <a:off x="405612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7" name="path-36">
            <a:extLst>
              <a:ext uri="{FF2B5EF4-FFF2-40B4-BE49-F238E27FC236}">
                <a16:creationId xmlns:a16="http://schemas.microsoft.com/office/drawing/2014/main" id="{C74242EA-EF2F-43D7-A76F-D7F9E7189F9F}"/>
              </a:ext>
            </a:extLst>
          </p:cNvPr>
          <p:cNvSpPr>
            <a:spLocks noGrp="1"/>
          </p:cNvSpPr>
          <p:nvPr/>
        </p:nvSpPr>
        <p:spPr>
          <a:xfrm>
            <a:off x="400659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8" name="path-37">
            <a:extLst>
              <a:ext uri="{FF2B5EF4-FFF2-40B4-BE49-F238E27FC236}">
                <a16:creationId xmlns:a16="http://schemas.microsoft.com/office/drawing/2014/main" id="{71508801-1E75-4C26-8D38-31A3AFECE343}"/>
              </a:ext>
            </a:extLst>
          </p:cNvPr>
          <p:cNvSpPr>
            <a:spLocks noGrp="1"/>
          </p:cNvSpPr>
          <p:nvPr/>
        </p:nvSpPr>
        <p:spPr>
          <a:xfrm>
            <a:off x="395706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9" name="path-38">
            <a:extLst>
              <a:ext uri="{FF2B5EF4-FFF2-40B4-BE49-F238E27FC236}">
                <a16:creationId xmlns:a16="http://schemas.microsoft.com/office/drawing/2014/main" id="{F108EE52-8891-417D-A6D0-7A8F53C7B642}"/>
              </a:ext>
            </a:extLst>
          </p:cNvPr>
          <p:cNvSpPr>
            <a:spLocks noGrp="1"/>
          </p:cNvSpPr>
          <p:nvPr/>
        </p:nvSpPr>
        <p:spPr>
          <a:xfrm>
            <a:off x="415518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0" name="path-39">
            <a:extLst>
              <a:ext uri="{FF2B5EF4-FFF2-40B4-BE49-F238E27FC236}">
                <a16:creationId xmlns:a16="http://schemas.microsoft.com/office/drawing/2014/main" id="{088C16C0-AA22-4A77-9D00-938CEEEF69DC}"/>
              </a:ext>
            </a:extLst>
          </p:cNvPr>
          <p:cNvSpPr>
            <a:spLocks noGrp="1"/>
          </p:cNvSpPr>
          <p:nvPr/>
        </p:nvSpPr>
        <p:spPr>
          <a:xfrm>
            <a:off x="410565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1" name="path-40">
            <a:extLst>
              <a:ext uri="{FF2B5EF4-FFF2-40B4-BE49-F238E27FC236}">
                <a16:creationId xmlns:a16="http://schemas.microsoft.com/office/drawing/2014/main" id="{987841E8-1AAE-4F4A-8988-AA884135C48D}"/>
              </a:ext>
            </a:extLst>
          </p:cNvPr>
          <p:cNvSpPr>
            <a:spLocks noGrp="1"/>
          </p:cNvSpPr>
          <p:nvPr/>
        </p:nvSpPr>
        <p:spPr>
          <a:xfrm>
            <a:off x="405612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2" name="path-41">
            <a:extLst>
              <a:ext uri="{FF2B5EF4-FFF2-40B4-BE49-F238E27FC236}">
                <a16:creationId xmlns:a16="http://schemas.microsoft.com/office/drawing/2014/main" id="{8E495833-46BA-431C-AE18-04E26E2FC549}"/>
              </a:ext>
            </a:extLst>
          </p:cNvPr>
          <p:cNvSpPr>
            <a:spLocks noGrp="1"/>
          </p:cNvSpPr>
          <p:nvPr/>
        </p:nvSpPr>
        <p:spPr>
          <a:xfrm>
            <a:off x="400659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3" name="path-42">
            <a:extLst>
              <a:ext uri="{FF2B5EF4-FFF2-40B4-BE49-F238E27FC236}">
                <a16:creationId xmlns:a16="http://schemas.microsoft.com/office/drawing/2014/main" id="{F612382B-DAEF-462B-9CDA-6EE176E61A97}"/>
              </a:ext>
            </a:extLst>
          </p:cNvPr>
          <p:cNvSpPr>
            <a:spLocks noGrp="1"/>
          </p:cNvSpPr>
          <p:nvPr/>
        </p:nvSpPr>
        <p:spPr>
          <a:xfrm>
            <a:off x="420471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4" name="path-43">
            <a:extLst>
              <a:ext uri="{FF2B5EF4-FFF2-40B4-BE49-F238E27FC236}">
                <a16:creationId xmlns:a16="http://schemas.microsoft.com/office/drawing/2014/main" id="{1AAEEEDF-6572-4D64-9939-5CC251C5A4BF}"/>
              </a:ext>
            </a:extLst>
          </p:cNvPr>
          <p:cNvSpPr>
            <a:spLocks noGrp="1"/>
          </p:cNvSpPr>
          <p:nvPr/>
        </p:nvSpPr>
        <p:spPr>
          <a:xfrm>
            <a:off x="415518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5" name="path-44">
            <a:extLst>
              <a:ext uri="{FF2B5EF4-FFF2-40B4-BE49-F238E27FC236}">
                <a16:creationId xmlns:a16="http://schemas.microsoft.com/office/drawing/2014/main" id="{A1985386-06FE-46C2-A57D-FD3B75A5F7C1}"/>
              </a:ext>
            </a:extLst>
          </p:cNvPr>
          <p:cNvSpPr>
            <a:spLocks noGrp="1"/>
          </p:cNvSpPr>
          <p:nvPr/>
        </p:nvSpPr>
        <p:spPr>
          <a:xfrm>
            <a:off x="410565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6" name="path-45">
            <a:extLst>
              <a:ext uri="{FF2B5EF4-FFF2-40B4-BE49-F238E27FC236}">
                <a16:creationId xmlns:a16="http://schemas.microsoft.com/office/drawing/2014/main" id="{B79BDB14-4AF7-4BB2-B5B2-EDD35A3AD4C9}"/>
              </a:ext>
            </a:extLst>
          </p:cNvPr>
          <p:cNvSpPr>
            <a:spLocks noGrp="1"/>
          </p:cNvSpPr>
          <p:nvPr/>
        </p:nvSpPr>
        <p:spPr>
          <a:xfrm>
            <a:off x="4056126" y="31584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7" name="vector-46">
            <a:extLst>
              <a:ext uri="{FF2B5EF4-FFF2-40B4-BE49-F238E27FC236}">
                <a16:creationId xmlns:a16="http://schemas.microsoft.com/office/drawing/2014/main" id="{03459F16-5CBD-4F76-AE65-26F06CF6231F}"/>
              </a:ext>
            </a:extLst>
          </p:cNvPr>
          <p:cNvSpPr>
            <a:spLocks noGrp="1"/>
          </p:cNvSpPr>
          <p:nvPr/>
        </p:nvSpPr>
        <p:spPr>
          <a:xfrm>
            <a:off x="4381024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48" name="vector-47">
            <a:extLst>
              <a:ext uri="{FF2B5EF4-FFF2-40B4-BE49-F238E27FC236}">
                <a16:creationId xmlns:a16="http://schemas.microsoft.com/office/drawing/2014/main" id="{BFEE664C-87D6-4188-A857-C9A7AEF9C2BC}"/>
              </a:ext>
            </a:extLst>
          </p:cNvPr>
          <p:cNvSpPr>
            <a:spLocks noGrp="1"/>
          </p:cNvSpPr>
          <p:nvPr/>
        </p:nvSpPr>
        <p:spPr>
          <a:xfrm>
            <a:off x="458104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69" name="Straight Arrow Connector 268"/>
          <p:cNvCxnSpPr>
            <a:stCxn id="47" idx="3"/>
            <a:endCxn id="48" idx="1"/>
          </p:cNvCxnSpPr>
          <p:nvPr/>
        </p:nvCxnSpPr>
        <p:spPr>
          <a:xfrm>
            <a:off x="4381977" y="314326"/>
            <a:ext cx="199072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50" name="vector-48">
            <a:extLst>
              <a:ext uri="{FF2B5EF4-FFF2-40B4-BE49-F238E27FC236}">
                <a16:creationId xmlns:a16="http://schemas.microsoft.com/office/drawing/2014/main" id="{EAB947F0-2AE6-43D2-B5A9-1EC89014FD1B}"/>
              </a:ext>
            </a:extLst>
          </p:cNvPr>
          <p:cNvSpPr>
            <a:spLocks noGrp="1"/>
          </p:cNvSpPr>
          <p:nvPr/>
        </p:nvSpPr>
        <p:spPr>
          <a:xfrm>
            <a:off x="4600575" y="161925"/>
            <a:ext cx="304800" cy="3048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51" name="vector-49">
            <a:extLst>
              <a:ext uri="{FF2B5EF4-FFF2-40B4-BE49-F238E27FC236}">
                <a16:creationId xmlns:a16="http://schemas.microsoft.com/office/drawing/2014/main" id="{E1461EF8-838F-4D00-82A5-75173EE7B382}"/>
              </a:ext>
            </a:extLst>
          </p:cNvPr>
          <p:cNvSpPr>
            <a:spLocks noGrp="1"/>
          </p:cNvSpPr>
          <p:nvPr/>
        </p:nvSpPr>
        <p:spPr>
          <a:xfrm>
            <a:off x="4600575" y="180975"/>
            <a:ext cx="304800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52" name="vector-50">
            <a:extLst>
              <a:ext uri="{FF2B5EF4-FFF2-40B4-BE49-F238E27FC236}">
                <a16:creationId xmlns:a16="http://schemas.microsoft.com/office/drawing/2014/main" id="{C189320A-7ECA-453B-BF5D-FC348A53D34C}"/>
              </a:ext>
            </a:extLst>
          </p:cNvPr>
          <p:cNvSpPr>
            <a:spLocks noGrp="1"/>
          </p:cNvSpPr>
          <p:nvPr/>
        </p:nvSpPr>
        <p:spPr>
          <a:xfrm>
            <a:off x="492394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vector-51">
            <a:extLst>
              <a:ext uri="{FF2B5EF4-FFF2-40B4-BE49-F238E27FC236}">
                <a16:creationId xmlns:a16="http://schemas.microsoft.com/office/drawing/2014/main" id="{C6D71B11-E1F2-44C3-A2A0-B6B5A01503FB}"/>
              </a:ext>
            </a:extLst>
          </p:cNvPr>
          <p:cNvSpPr>
            <a:spLocks noGrp="1"/>
          </p:cNvSpPr>
          <p:nvPr/>
        </p:nvSpPr>
        <p:spPr>
          <a:xfrm>
            <a:off x="509539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74" name="Straight Arrow Connector 273"/>
          <p:cNvCxnSpPr>
            <a:stCxn id="52" idx="3"/>
            <a:endCxn id="53" idx="1"/>
          </p:cNvCxnSpPr>
          <p:nvPr/>
        </p:nvCxnSpPr>
        <p:spPr>
          <a:xfrm>
            <a:off x="4924902" y="314326"/>
            <a:ext cx="170497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55" name="vector-52">
            <a:extLst>
              <a:ext uri="{FF2B5EF4-FFF2-40B4-BE49-F238E27FC236}">
                <a16:creationId xmlns:a16="http://schemas.microsoft.com/office/drawing/2014/main" id="{837ABC18-CD1B-4053-B64B-3CDAD615A64D}"/>
              </a:ext>
            </a:extLst>
          </p:cNvPr>
          <p:cNvSpPr>
            <a:spLocks noGrp="1"/>
          </p:cNvSpPr>
          <p:nvPr/>
        </p:nvSpPr>
        <p:spPr>
          <a:xfrm>
            <a:off x="5162550" y="180975"/>
            <a:ext cx="228600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6" name="vector-53">
            <a:extLst>
              <a:ext uri="{FF2B5EF4-FFF2-40B4-BE49-F238E27FC236}">
                <a16:creationId xmlns:a16="http://schemas.microsoft.com/office/drawing/2014/main" id="{4E16F938-FCB5-408F-9345-73526DE203B3}"/>
              </a:ext>
            </a:extLst>
          </p:cNvPr>
          <p:cNvSpPr>
            <a:spLocks noGrp="1"/>
          </p:cNvSpPr>
          <p:nvPr/>
        </p:nvSpPr>
        <p:spPr>
          <a:xfrm>
            <a:off x="5162550" y="295275"/>
            <a:ext cx="4476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7" name="vector-54">
            <a:extLst>
              <a:ext uri="{FF2B5EF4-FFF2-40B4-BE49-F238E27FC236}">
                <a16:creationId xmlns:a16="http://schemas.microsoft.com/office/drawing/2014/main" id="{03EFA351-8010-4033-BEB6-041FCD9EBE90}"/>
              </a:ext>
            </a:extLst>
          </p:cNvPr>
          <p:cNvSpPr>
            <a:spLocks noGrp="1"/>
          </p:cNvSpPr>
          <p:nvPr/>
        </p:nvSpPr>
        <p:spPr>
          <a:xfrm>
            <a:off x="5162550" y="409575"/>
            <a:ext cx="1428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8" name="vector-55">
            <a:extLst>
              <a:ext uri="{FF2B5EF4-FFF2-40B4-BE49-F238E27FC236}">
                <a16:creationId xmlns:a16="http://schemas.microsoft.com/office/drawing/2014/main" id="{A8DF1AC7-ED41-4348-8E05-21486C9D1328}"/>
              </a:ext>
            </a:extLst>
          </p:cNvPr>
          <p:cNvSpPr>
            <a:spLocks noGrp="1"/>
          </p:cNvSpPr>
          <p:nvPr/>
        </p:nvSpPr>
        <p:spPr>
          <a:xfrm>
            <a:off x="3333750" y="609600"/>
            <a:ext cx="2667000" cy="2952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Head on AR</a:t>
            </a:r>
          </a:p>
        </p:txBody>
      </p:sp>
      <p:sp>
        <p:nvSpPr>
          <p:cNvPr id="59" name="path-56">
            <a:extLst>
              <a:ext uri="{FF2B5EF4-FFF2-40B4-BE49-F238E27FC236}">
                <a16:creationId xmlns:a16="http://schemas.microsoft.com/office/drawing/2014/main" id="{57E29A27-9DDB-484E-A18B-1E0100330D6A}"/>
              </a:ext>
            </a:extLst>
          </p:cNvPr>
          <p:cNvSpPr>
            <a:spLocks noGrp="1"/>
          </p:cNvSpPr>
          <p:nvPr/>
        </p:nvSpPr>
        <p:spPr>
          <a:xfrm>
            <a:off x="4667250" y="962025"/>
            <a:ext cx="953" cy="142875"/>
          </a:xfrm>
          <a:custGeom>
            <a:avLst/>
            <a:gdLst/>
            <a:ahLst/>
            <a:cxnLst/>
            <a:rect l="0" t="0" r="0" b="0"/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0" name="path-57">
            <a:extLst>
              <a:ext uri="{FF2B5EF4-FFF2-40B4-BE49-F238E27FC236}">
                <a16:creationId xmlns:a16="http://schemas.microsoft.com/office/drawing/2014/main" id="{86E2F1D3-9516-4EA4-930B-6E960A5452DD}"/>
              </a:ext>
            </a:extLst>
          </p:cNvPr>
          <p:cNvSpPr>
            <a:spLocks noGrp="1"/>
          </p:cNvSpPr>
          <p:nvPr/>
        </p:nvSpPr>
        <p:spPr>
          <a:xfrm>
            <a:off x="6772275" y="21717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1" name="path-58">
            <a:extLst>
              <a:ext uri="{FF2B5EF4-FFF2-40B4-BE49-F238E27FC236}">
                <a16:creationId xmlns:a16="http://schemas.microsoft.com/office/drawing/2014/main" id="{D69214A6-BA35-42E2-B471-C75663469964}"/>
              </a:ext>
            </a:extLst>
          </p:cNvPr>
          <p:cNvSpPr>
            <a:spLocks noGrp="1"/>
          </p:cNvSpPr>
          <p:nvPr/>
        </p:nvSpPr>
        <p:spPr>
          <a:xfrm>
            <a:off x="6772275" y="17526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2" name="path-59">
            <a:extLst>
              <a:ext uri="{FF2B5EF4-FFF2-40B4-BE49-F238E27FC236}">
                <a16:creationId xmlns:a16="http://schemas.microsoft.com/office/drawing/2014/main" id="{C536300B-D15B-46F2-BAF1-E5CEEA0DEC0A}"/>
              </a:ext>
            </a:extLst>
          </p:cNvPr>
          <p:cNvSpPr>
            <a:spLocks noGrp="1"/>
          </p:cNvSpPr>
          <p:nvPr/>
        </p:nvSpPr>
        <p:spPr>
          <a:xfrm>
            <a:off x="6772275" y="133350"/>
            <a:ext cx="533400" cy="266700"/>
          </a:xfrm>
          <a:custGeom>
            <a:avLst/>
            <a:gdLst/>
            <a:ahLst/>
            <a:cxnLst/>
            <a:rect l="0" t="0" r="0" b="0"/>
            <a:pathLst>
              <a:path w="533400" h="266700">
                <a:moveTo>
                  <a:pt x="266700" y="0"/>
                </a:moveTo>
                <a:lnTo>
                  <a:pt x="533400" y="133350"/>
                </a:lnTo>
                <a:lnTo>
                  <a:pt x="266700" y="266700"/>
                </a:lnTo>
                <a:lnTo>
                  <a:pt x="0" y="133350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3" name="path-60">
            <a:extLst>
              <a:ext uri="{FF2B5EF4-FFF2-40B4-BE49-F238E27FC236}">
                <a16:creationId xmlns:a16="http://schemas.microsoft.com/office/drawing/2014/main" id="{173EF616-C5A0-4667-B44D-1CBA9CCE0B76}"/>
              </a:ext>
            </a:extLst>
          </p:cNvPr>
          <p:cNvSpPr>
            <a:spLocks noGrp="1"/>
          </p:cNvSpPr>
          <p:nvPr/>
        </p:nvSpPr>
        <p:spPr>
          <a:xfrm>
            <a:off x="7008876" y="16725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4" name="path-61">
            <a:extLst>
              <a:ext uri="{FF2B5EF4-FFF2-40B4-BE49-F238E27FC236}">
                <a16:creationId xmlns:a16="http://schemas.microsoft.com/office/drawing/2014/main" id="{007F2EBC-B178-49F8-893C-76DCBFDE120C}"/>
              </a:ext>
            </a:extLst>
          </p:cNvPr>
          <p:cNvSpPr>
            <a:spLocks noGrp="1"/>
          </p:cNvSpPr>
          <p:nvPr/>
        </p:nvSpPr>
        <p:spPr>
          <a:xfrm>
            <a:off x="695934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5" name="path-62">
            <a:extLst>
              <a:ext uri="{FF2B5EF4-FFF2-40B4-BE49-F238E27FC236}">
                <a16:creationId xmlns:a16="http://schemas.microsoft.com/office/drawing/2014/main" id="{4855ABEE-3C3F-405A-AF7F-8F29623E6FA8}"/>
              </a:ext>
            </a:extLst>
          </p:cNvPr>
          <p:cNvSpPr>
            <a:spLocks noGrp="1"/>
          </p:cNvSpPr>
          <p:nvPr/>
        </p:nvSpPr>
        <p:spPr>
          <a:xfrm>
            <a:off x="690981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6" name="path-63">
            <a:extLst>
              <a:ext uri="{FF2B5EF4-FFF2-40B4-BE49-F238E27FC236}">
                <a16:creationId xmlns:a16="http://schemas.microsoft.com/office/drawing/2014/main" id="{69039F0D-FCCF-4D6C-A480-2BF0FC1E3ABF}"/>
              </a:ext>
            </a:extLst>
          </p:cNvPr>
          <p:cNvSpPr>
            <a:spLocks noGrp="1"/>
          </p:cNvSpPr>
          <p:nvPr/>
        </p:nvSpPr>
        <p:spPr>
          <a:xfrm>
            <a:off x="686028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7" name="path-64">
            <a:extLst>
              <a:ext uri="{FF2B5EF4-FFF2-40B4-BE49-F238E27FC236}">
                <a16:creationId xmlns:a16="http://schemas.microsoft.com/office/drawing/2014/main" id="{F998522F-18DC-4B88-8983-D1D869207E83}"/>
              </a:ext>
            </a:extLst>
          </p:cNvPr>
          <p:cNvSpPr>
            <a:spLocks noGrp="1"/>
          </p:cNvSpPr>
          <p:nvPr/>
        </p:nvSpPr>
        <p:spPr>
          <a:xfrm>
            <a:off x="7058406" y="19202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8" name="path-65">
            <a:extLst>
              <a:ext uri="{FF2B5EF4-FFF2-40B4-BE49-F238E27FC236}">
                <a16:creationId xmlns:a16="http://schemas.microsoft.com/office/drawing/2014/main" id="{E2754BE0-B174-468F-AA71-88CA2560C925}"/>
              </a:ext>
            </a:extLst>
          </p:cNvPr>
          <p:cNvSpPr>
            <a:spLocks noGrp="1"/>
          </p:cNvSpPr>
          <p:nvPr/>
        </p:nvSpPr>
        <p:spPr>
          <a:xfrm>
            <a:off x="700887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9" name="path-66">
            <a:extLst>
              <a:ext uri="{FF2B5EF4-FFF2-40B4-BE49-F238E27FC236}">
                <a16:creationId xmlns:a16="http://schemas.microsoft.com/office/drawing/2014/main" id="{19BD9BB4-6CE2-4C05-9474-1D5606EDB9C5}"/>
              </a:ext>
            </a:extLst>
          </p:cNvPr>
          <p:cNvSpPr>
            <a:spLocks noGrp="1"/>
          </p:cNvSpPr>
          <p:nvPr/>
        </p:nvSpPr>
        <p:spPr>
          <a:xfrm>
            <a:off x="695934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0" name="path-67">
            <a:extLst>
              <a:ext uri="{FF2B5EF4-FFF2-40B4-BE49-F238E27FC236}">
                <a16:creationId xmlns:a16="http://schemas.microsoft.com/office/drawing/2014/main" id="{B54006A3-D532-4894-BE56-30D5641D82D6}"/>
              </a:ext>
            </a:extLst>
          </p:cNvPr>
          <p:cNvSpPr>
            <a:spLocks noGrp="1"/>
          </p:cNvSpPr>
          <p:nvPr/>
        </p:nvSpPr>
        <p:spPr>
          <a:xfrm>
            <a:off x="690981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1" name="path-68">
            <a:extLst>
              <a:ext uri="{FF2B5EF4-FFF2-40B4-BE49-F238E27FC236}">
                <a16:creationId xmlns:a16="http://schemas.microsoft.com/office/drawing/2014/main" id="{ACB300F0-5DD3-4C4B-B74B-5CB81B893364}"/>
              </a:ext>
            </a:extLst>
          </p:cNvPr>
          <p:cNvSpPr>
            <a:spLocks noGrp="1"/>
          </p:cNvSpPr>
          <p:nvPr/>
        </p:nvSpPr>
        <p:spPr>
          <a:xfrm>
            <a:off x="7107936" y="21678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2" name="path-69">
            <a:extLst>
              <a:ext uri="{FF2B5EF4-FFF2-40B4-BE49-F238E27FC236}">
                <a16:creationId xmlns:a16="http://schemas.microsoft.com/office/drawing/2014/main" id="{908EE115-89F7-4CFC-AD9E-7B5445F8701E}"/>
              </a:ext>
            </a:extLst>
          </p:cNvPr>
          <p:cNvSpPr>
            <a:spLocks noGrp="1"/>
          </p:cNvSpPr>
          <p:nvPr/>
        </p:nvSpPr>
        <p:spPr>
          <a:xfrm>
            <a:off x="705840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3" name="path-70">
            <a:extLst>
              <a:ext uri="{FF2B5EF4-FFF2-40B4-BE49-F238E27FC236}">
                <a16:creationId xmlns:a16="http://schemas.microsoft.com/office/drawing/2014/main" id="{FB3489B4-8E8E-4C0A-A531-92110FE6D9D1}"/>
              </a:ext>
            </a:extLst>
          </p:cNvPr>
          <p:cNvSpPr>
            <a:spLocks noGrp="1"/>
          </p:cNvSpPr>
          <p:nvPr/>
        </p:nvSpPr>
        <p:spPr>
          <a:xfrm>
            <a:off x="700887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4" name="path-71">
            <a:extLst>
              <a:ext uri="{FF2B5EF4-FFF2-40B4-BE49-F238E27FC236}">
                <a16:creationId xmlns:a16="http://schemas.microsoft.com/office/drawing/2014/main" id="{F1F75BD3-1AC8-4FAC-A4B7-F714DB1F6606}"/>
              </a:ext>
            </a:extLst>
          </p:cNvPr>
          <p:cNvSpPr>
            <a:spLocks noGrp="1"/>
          </p:cNvSpPr>
          <p:nvPr/>
        </p:nvSpPr>
        <p:spPr>
          <a:xfrm>
            <a:off x="695934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5" name="path-72">
            <a:extLst>
              <a:ext uri="{FF2B5EF4-FFF2-40B4-BE49-F238E27FC236}">
                <a16:creationId xmlns:a16="http://schemas.microsoft.com/office/drawing/2014/main" id="{E3FEDF67-FBFB-4B8C-A87F-65818BF547CB}"/>
              </a:ext>
            </a:extLst>
          </p:cNvPr>
          <p:cNvSpPr>
            <a:spLocks noGrp="1"/>
          </p:cNvSpPr>
          <p:nvPr/>
        </p:nvSpPr>
        <p:spPr>
          <a:xfrm>
            <a:off x="7157466" y="24155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6" name="path-73">
            <a:extLst>
              <a:ext uri="{FF2B5EF4-FFF2-40B4-BE49-F238E27FC236}">
                <a16:creationId xmlns:a16="http://schemas.microsoft.com/office/drawing/2014/main" id="{84ED0359-D5EC-4570-91E5-CC1DF38C2532}"/>
              </a:ext>
            </a:extLst>
          </p:cNvPr>
          <p:cNvSpPr>
            <a:spLocks noGrp="1"/>
          </p:cNvSpPr>
          <p:nvPr/>
        </p:nvSpPr>
        <p:spPr>
          <a:xfrm>
            <a:off x="7107936" y="26631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7" name="path-74">
            <a:extLst>
              <a:ext uri="{FF2B5EF4-FFF2-40B4-BE49-F238E27FC236}">
                <a16:creationId xmlns:a16="http://schemas.microsoft.com/office/drawing/2014/main" id="{738689EA-D829-4BBE-9710-E5F643D25F8D}"/>
              </a:ext>
            </a:extLst>
          </p:cNvPr>
          <p:cNvSpPr>
            <a:spLocks noGrp="1"/>
          </p:cNvSpPr>
          <p:nvPr/>
        </p:nvSpPr>
        <p:spPr>
          <a:xfrm>
            <a:off x="7058406" y="291084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8" name="path-75">
            <a:extLst>
              <a:ext uri="{FF2B5EF4-FFF2-40B4-BE49-F238E27FC236}">
                <a16:creationId xmlns:a16="http://schemas.microsoft.com/office/drawing/2014/main" id="{3EB6AA93-069F-4C2F-B48F-6C46CE97987D}"/>
              </a:ext>
            </a:extLst>
          </p:cNvPr>
          <p:cNvSpPr>
            <a:spLocks noGrp="1"/>
          </p:cNvSpPr>
          <p:nvPr/>
        </p:nvSpPr>
        <p:spPr>
          <a:xfrm>
            <a:off x="7008876" y="315849"/>
            <a:ext cx="60198" cy="31242"/>
          </a:xfrm>
          <a:custGeom>
            <a:avLst/>
            <a:gdLst/>
            <a:ahLst/>
            <a:cxnLst/>
            <a:rect l="0" t="0" r="0" b="0"/>
            <a:pathLst>
              <a:path w="60198" h="31242">
                <a:moveTo>
                  <a:pt x="30099" y="0"/>
                </a:moveTo>
                <a:lnTo>
                  <a:pt x="60198" y="15621"/>
                </a:lnTo>
                <a:lnTo>
                  <a:pt x="30099" y="31242"/>
                </a:lnTo>
                <a:lnTo>
                  <a:pt x="0" y="15621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9" name="vector-76">
            <a:extLst>
              <a:ext uri="{FF2B5EF4-FFF2-40B4-BE49-F238E27FC236}">
                <a16:creationId xmlns:a16="http://schemas.microsoft.com/office/drawing/2014/main" id="{A030D5DA-C284-45F9-AA94-604ADBD07203}"/>
              </a:ext>
            </a:extLst>
          </p:cNvPr>
          <p:cNvSpPr>
            <a:spLocks noGrp="1"/>
          </p:cNvSpPr>
          <p:nvPr/>
        </p:nvSpPr>
        <p:spPr>
          <a:xfrm>
            <a:off x="7333774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0" name="vector-77">
            <a:extLst>
              <a:ext uri="{FF2B5EF4-FFF2-40B4-BE49-F238E27FC236}">
                <a16:creationId xmlns:a16="http://schemas.microsoft.com/office/drawing/2014/main" id="{F814521A-3B8B-460B-809B-87D07047155A}"/>
              </a:ext>
            </a:extLst>
          </p:cNvPr>
          <p:cNvSpPr>
            <a:spLocks noGrp="1"/>
          </p:cNvSpPr>
          <p:nvPr/>
        </p:nvSpPr>
        <p:spPr>
          <a:xfrm>
            <a:off x="753379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01" name="Straight Arrow Connector 300"/>
          <p:cNvCxnSpPr>
            <a:stCxn id="79" idx="3"/>
            <a:endCxn id="80" idx="1"/>
          </p:cNvCxnSpPr>
          <p:nvPr/>
        </p:nvCxnSpPr>
        <p:spPr>
          <a:xfrm>
            <a:off x="7334727" y="314326"/>
            <a:ext cx="19907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82" name="vector-78">
            <a:extLst>
              <a:ext uri="{FF2B5EF4-FFF2-40B4-BE49-F238E27FC236}">
                <a16:creationId xmlns:a16="http://schemas.microsoft.com/office/drawing/2014/main" id="{9ED15094-6098-463B-A54F-FCE81E3A19D5}"/>
              </a:ext>
            </a:extLst>
          </p:cNvPr>
          <p:cNvSpPr>
            <a:spLocks noGrp="1"/>
          </p:cNvSpPr>
          <p:nvPr/>
        </p:nvSpPr>
        <p:spPr>
          <a:xfrm>
            <a:off x="7553325" y="161925"/>
            <a:ext cx="304800" cy="3048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83" name="vector-79">
            <a:extLst>
              <a:ext uri="{FF2B5EF4-FFF2-40B4-BE49-F238E27FC236}">
                <a16:creationId xmlns:a16="http://schemas.microsoft.com/office/drawing/2014/main" id="{52F3FD41-0407-4F4D-8D76-8AB85B1A0583}"/>
              </a:ext>
            </a:extLst>
          </p:cNvPr>
          <p:cNvSpPr>
            <a:spLocks noGrp="1"/>
          </p:cNvSpPr>
          <p:nvPr/>
        </p:nvSpPr>
        <p:spPr>
          <a:xfrm>
            <a:off x="7553325" y="180975"/>
            <a:ext cx="304800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84" name="vector-80">
            <a:extLst>
              <a:ext uri="{FF2B5EF4-FFF2-40B4-BE49-F238E27FC236}">
                <a16:creationId xmlns:a16="http://schemas.microsoft.com/office/drawing/2014/main" id="{036CEC29-B5C6-4215-8A67-BA0B30BCB99A}"/>
              </a:ext>
            </a:extLst>
          </p:cNvPr>
          <p:cNvSpPr>
            <a:spLocks noGrp="1"/>
          </p:cNvSpPr>
          <p:nvPr/>
        </p:nvSpPr>
        <p:spPr>
          <a:xfrm>
            <a:off x="787669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5" name="vector-81">
            <a:extLst>
              <a:ext uri="{FF2B5EF4-FFF2-40B4-BE49-F238E27FC236}">
                <a16:creationId xmlns:a16="http://schemas.microsoft.com/office/drawing/2014/main" id="{C4997F47-62D9-41BF-B40C-3690E8EB2331}"/>
              </a:ext>
            </a:extLst>
          </p:cNvPr>
          <p:cNvSpPr>
            <a:spLocks noGrp="1"/>
          </p:cNvSpPr>
          <p:nvPr/>
        </p:nvSpPr>
        <p:spPr>
          <a:xfrm>
            <a:off x="8048149" y="3138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06" name="Straight Arrow Connector 305"/>
          <p:cNvCxnSpPr>
            <a:stCxn id="84" idx="3"/>
            <a:endCxn id="85" idx="1"/>
          </p:cNvCxnSpPr>
          <p:nvPr/>
        </p:nvCxnSpPr>
        <p:spPr>
          <a:xfrm>
            <a:off x="7877652" y="314326"/>
            <a:ext cx="170497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87" name="vector-82">
            <a:extLst>
              <a:ext uri="{FF2B5EF4-FFF2-40B4-BE49-F238E27FC236}">
                <a16:creationId xmlns:a16="http://schemas.microsoft.com/office/drawing/2014/main" id="{882EDE92-C959-4C35-8DF1-EB6199E23ED5}"/>
              </a:ext>
            </a:extLst>
          </p:cNvPr>
          <p:cNvSpPr>
            <a:spLocks noGrp="1"/>
          </p:cNvSpPr>
          <p:nvPr/>
        </p:nvSpPr>
        <p:spPr>
          <a:xfrm>
            <a:off x="8115300" y="180975"/>
            <a:ext cx="228600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8" name="vector-83">
            <a:extLst>
              <a:ext uri="{FF2B5EF4-FFF2-40B4-BE49-F238E27FC236}">
                <a16:creationId xmlns:a16="http://schemas.microsoft.com/office/drawing/2014/main" id="{57B8D9D0-CE4F-4A28-92CC-BADCED7A8A93}"/>
              </a:ext>
            </a:extLst>
          </p:cNvPr>
          <p:cNvSpPr>
            <a:spLocks noGrp="1"/>
          </p:cNvSpPr>
          <p:nvPr/>
        </p:nvSpPr>
        <p:spPr>
          <a:xfrm>
            <a:off x="8115300" y="295275"/>
            <a:ext cx="4476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9" name="vector-84">
            <a:extLst>
              <a:ext uri="{FF2B5EF4-FFF2-40B4-BE49-F238E27FC236}">
                <a16:creationId xmlns:a16="http://schemas.microsoft.com/office/drawing/2014/main" id="{2A0F0A60-41BC-480B-93C4-F68AAEB19760}"/>
              </a:ext>
            </a:extLst>
          </p:cNvPr>
          <p:cNvSpPr>
            <a:spLocks noGrp="1"/>
          </p:cNvSpPr>
          <p:nvPr/>
        </p:nvSpPr>
        <p:spPr>
          <a:xfrm>
            <a:off x="8115300" y="409575"/>
            <a:ext cx="1428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0" name="vector-85">
            <a:extLst>
              <a:ext uri="{FF2B5EF4-FFF2-40B4-BE49-F238E27FC236}">
                <a16:creationId xmlns:a16="http://schemas.microsoft.com/office/drawing/2014/main" id="{604A28EE-BABE-4A16-8E73-8C42C7AC4603}"/>
              </a:ext>
            </a:extLst>
          </p:cNvPr>
          <p:cNvSpPr>
            <a:spLocks noGrp="1"/>
          </p:cNvSpPr>
          <p:nvPr/>
        </p:nvSpPr>
        <p:spPr>
          <a:xfrm>
            <a:off x="6286500" y="609600"/>
            <a:ext cx="2667000" cy="2952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Head on NAR</a:t>
            </a:r>
          </a:p>
        </p:txBody>
      </p:sp>
      <p:sp>
        <p:nvSpPr>
          <p:cNvPr id="91" name="path-86">
            <a:extLst>
              <a:ext uri="{FF2B5EF4-FFF2-40B4-BE49-F238E27FC236}">
                <a16:creationId xmlns:a16="http://schemas.microsoft.com/office/drawing/2014/main" id="{D6F12F5F-8E86-4FF8-9729-2D320B964BA4}"/>
              </a:ext>
            </a:extLst>
          </p:cNvPr>
          <p:cNvSpPr>
            <a:spLocks noGrp="1"/>
          </p:cNvSpPr>
          <p:nvPr/>
        </p:nvSpPr>
        <p:spPr>
          <a:xfrm>
            <a:off x="7620000" y="962025"/>
            <a:ext cx="953" cy="142875"/>
          </a:xfrm>
          <a:custGeom>
            <a:avLst/>
            <a:gdLst/>
            <a:ahLst/>
            <a:cxnLst/>
            <a:rect l="0" t="0" r="0" b="0"/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2" name="path-87">
            <a:extLst>
              <a:ext uri="{FF2B5EF4-FFF2-40B4-BE49-F238E27FC236}">
                <a16:creationId xmlns:a16="http://schemas.microsoft.com/office/drawing/2014/main" id="{DE6DB3F6-55E3-40DE-8DAD-3AB6816514F5}"/>
              </a:ext>
            </a:extLst>
          </p:cNvPr>
          <p:cNvSpPr>
            <a:spLocks noGrp="1"/>
          </p:cNvSpPr>
          <p:nvPr/>
        </p:nvSpPr>
        <p:spPr>
          <a:xfrm>
            <a:off x="1714500" y="1104900"/>
            <a:ext cx="7086600" cy="953"/>
          </a:xfrm>
          <a:custGeom>
            <a:avLst/>
            <a:gdLst/>
            <a:ahLst/>
            <a:cxnLst/>
            <a:rect l="0" t="0" r="0" b="0"/>
            <a:pathLst>
              <a:path w="7086600" h="953">
                <a:moveTo>
                  <a:pt x="0" y="0"/>
                </a:moveTo>
                <a:lnTo>
                  <a:pt x="7086600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3" name="vector-88">
            <a:extLst>
              <a:ext uri="{FF2B5EF4-FFF2-40B4-BE49-F238E27FC236}">
                <a16:creationId xmlns:a16="http://schemas.microsoft.com/office/drawing/2014/main" id="{1512A016-0FB1-4B44-929F-BBC1CB2C5C57}"/>
              </a:ext>
            </a:extLst>
          </p:cNvPr>
          <p:cNvSpPr>
            <a:spLocks noGrp="1"/>
          </p:cNvSpPr>
          <p:nvPr/>
        </p:nvSpPr>
        <p:spPr>
          <a:xfrm>
            <a:off x="8800624" y="11044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4" name="vector-89">
            <a:extLst>
              <a:ext uri="{FF2B5EF4-FFF2-40B4-BE49-F238E27FC236}">
                <a16:creationId xmlns:a16="http://schemas.microsoft.com/office/drawing/2014/main" id="{51E930F9-526A-4586-A7A1-027EABBF6F20}"/>
              </a:ext>
            </a:extLst>
          </p:cNvPr>
          <p:cNvSpPr>
            <a:spLocks noGrp="1"/>
          </p:cNvSpPr>
          <p:nvPr/>
        </p:nvSpPr>
        <p:spPr>
          <a:xfrm>
            <a:off x="9410224" y="11044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15" name="Straight Arrow Connector 314"/>
          <p:cNvCxnSpPr>
            <a:stCxn id="93" idx="3"/>
            <a:endCxn id="94" idx="1"/>
          </p:cNvCxnSpPr>
          <p:nvPr/>
        </p:nvCxnSpPr>
        <p:spPr>
          <a:xfrm>
            <a:off x="8801577" y="1104901"/>
            <a:ext cx="608647" cy="0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96" name="vector-90">
            <a:extLst>
              <a:ext uri="{FF2B5EF4-FFF2-40B4-BE49-F238E27FC236}">
                <a16:creationId xmlns:a16="http://schemas.microsoft.com/office/drawing/2014/main" id="{E62A91FC-2148-4C80-B596-3F81BF7B39A2}"/>
              </a:ext>
            </a:extLst>
          </p:cNvPr>
          <p:cNvSpPr>
            <a:spLocks noGrp="1"/>
          </p:cNvSpPr>
          <p:nvPr/>
        </p:nvSpPr>
        <p:spPr>
          <a:xfrm>
            <a:off x="6010275" y="1162050"/>
            <a:ext cx="2571750" cy="2286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any one interface</a:t>
            </a:r>
          </a:p>
        </p:txBody>
      </p:sp>
      <p:sp>
        <p:nvSpPr>
          <p:cNvPr id="97" name="path-91">
            <a:extLst>
              <a:ext uri="{FF2B5EF4-FFF2-40B4-BE49-F238E27FC236}">
                <a16:creationId xmlns:a16="http://schemas.microsoft.com/office/drawing/2014/main" id="{D714FF9B-65B8-4918-8B48-D2EBEF6472C9}"/>
              </a:ext>
            </a:extLst>
          </p:cNvPr>
          <p:cNvSpPr>
            <a:spLocks noGrp="1"/>
          </p:cNvSpPr>
          <p:nvPr/>
        </p:nvSpPr>
        <p:spPr>
          <a:xfrm>
            <a:off x="9515475" y="838200"/>
            <a:ext cx="95250" cy="495300"/>
          </a:xfrm>
          <a:custGeom>
            <a:avLst/>
            <a:gdLst/>
            <a:ahLst/>
            <a:cxnLst/>
            <a:rect l="0" t="0" r="0" b="0"/>
            <a:pathLst>
              <a:path w="95250" h="495300">
                <a:moveTo>
                  <a:pt x="95250" y="0"/>
                </a:moveTo>
                <a:lnTo>
                  <a:pt x="0" y="0"/>
                </a:lnTo>
                <a:lnTo>
                  <a:pt x="0" y="495300"/>
                </a:lnTo>
                <a:lnTo>
                  <a:pt x="95250" y="495300"/>
                </a:lnTo>
              </a:path>
            </a:pathLst>
          </a:custGeom>
          <a:noFill/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8" name="vector-92">
            <a:extLst>
              <a:ext uri="{FF2B5EF4-FFF2-40B4-BE49-F238E27FC236}">
                <a16:creationId xmlns:a16="http://schemas.microsoft.com/office/drawing/2014/main" id="{5997CE00-6E1E-4DD1-952A-7F0B2ABAB8D8}"/>
              </a:ext>
            </a:extLst>
          </p:cNvPr>
          <p:cNvSpPr>
            <a:spLocks noGrp="1"/>
          </p:cNvSpPr>
          <p:nvPr/>
        </p:nvSpPr>
        <p:spPr>
          <a:xfrm>
            <a:off x="9715500" y="914400"/>
            <a:ext cx="228600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9" name="vector-93">
            <a:extLst>
              <a:ext uri="{FF2B5EF4-FFF2-40B4-BE49-F238E27FC236}">
                <a16:creationId xmlns:a16="http://schemas.microsoft.com/office/drawing/2014/main" id="{98FC9A20-836A-4310-A1CC-899D73847B8D}"/>
              </a:ext>
            </a:extLst>
          </p:cNvPr>
          <p:cNvSpPr>
            <a:spLocks noGrp="1"/>
          </p:cNvSpPr>
          <p:nvPr/>
        </p:nvSpPr>
        <p:spPr>
          <a:xfrm>
            <a:off x="9715500" y="1028700"/>
            <a:ext cx="4476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0" name="vector-94">
            <a:extLst>
              <a:ext uri="{FF2B5EF4-FFF2-40B4-BE49-F238E27FC236}">
                <a16:creationId xmlns:a16="http://schemas.microsoft.com/office/drawing/2014/main" id="{3F4C8860-DDFC-4468-954C-5E0FBBFDB5F1}"/>
              </a:ext>
            </a:extLst>
          </p:cNvPr>
          <p:cNvSpPr>
            <a:spLocks noGrp="1"/>
          </p:cNvSpPr>
          <p:nvPr/>
        </p:nvSpPr>
        <p:spPr>
          <a:xfrm>
            <a:off x="9715500" y="1143000"/>
            <a:ext cx="142875" cy="66675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1" name="path-95">
            <a:extLst>
              <a:ext uri="{FF2B5EF4-FFF2-40B4-BE49-F238E27FC236}">
                <a16:creationId xmlns:a16="http://schemas.microsoft.com/office/drawing/2014/main" id="{BF8569DB-F02E-40AA-BB63-9CEC11C771FA}"/>
              </a:ext>
            </a:extLst>
          </p:cNvPr>
          <p:cNvSpPr>
            <a:spLocks noGrp="1"/>
          </p:cNvSpPr>
          <p:nvPr/>
        </p:nvSpPr>
        <p:spPr>
          <a:xfrm>
            <a:off x="10287000" y="838200"/>
            <a:ext cx="95250" cy="495300"/>
          </a:xfrm>
          <a:custGeom>
            <a:avLst/>
            <a:gdLst/>
            <a:ahLst/>
            <a:cxnLst/>
            <a:rect l="0" t="0" r="0" b="0"/>
            <a:pathLst>
              <a:path w="95250" h="495300">
                <a:moveTo>
                  <a:pt x="0" y="0"/>
                </a:moveTo>
                <a:lnTo>
                  <a:pt x="95250" y="0"/>
                </a:lnTo>
                <a:lnTo>
                  <a:pt x="95250" y="495300"/>
                </a:lnTo>
                <a:lnTo>
                  <a:pt x="0" y="495300"/>
                </a:lnTo>
              </a:path>
            </a:pathLst>
          </a:custGeom>
          <a:noFill/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2" name="vector-96">
            <a:extLst>
              <a:ext uri="{FF2B5EF4-FFF2-40B4-BE49-F238E27FC236}">
                <a16:creationId xmlns:a16="http://schemas.microsoft.com/office/drawing/2014/main" id="{ABE0AAC5-2B1A-4568-919A-7C896500F4BF}"/>
              </a:ext>
            </a:extLst>
          </p:cNvPr>
          <p:cNvSpPr>
            <a:spLocks noGrp="1"/>
          </p:cNvSpPr>
          <p:nvPr/>
        </p:nvSpPr>
        <p:spPr>
          <a:xfrm>
            <a:off x="10668000" y="914400"/>
            <a:ext cx="2466975" cy="3143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p = (p₁, …, pₖ)</a:t>
            </a:r>
          </a:p>
        </p:txBody>
      </p:sp>
      <p:sp>
        <p:nvSpPr>
          <p:cNvPr id="103" name="vector-97">
            <a:extLst>
              <a:ext uri="{FF2B5EF4-FFF2-40B4-BE49-F238E27FC236}">
                <a16:creationId xmlns:a16="http://schemas.microsoft.com/office/drawing/2014/main" id="{AF3BE0C7-5B0D-467A-9F81-54D48405E63F}"/>
              </a:ext>
            </a:extLst>
          </p:cNvPr>
          <p:cNvSpPr>
            <a:spLocks noGrp="1"/>
          </p:cNvSpPr>
          <p:nvPr/>
        </p:nvSpPr>
        <p:spPr>
          <a:xfrm>
            <a:off x="13239750" y="942975"/>
            <a:ext cx="3571875" cy="2857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common candidate probabilities</a:t>
            </a:r>
          </a:p>
        </p:txBody>
      </p:sp>
      <p:sp>
        <p:nvSpPr>
          <p:cNvPr id="104" name="path-98">
            <a:extLst>
              <a:ext uri="{FF2B5EF4-FFF2-40B4-BE49-F238E27FC236}">
                <a16:creationId xmlns:a16="http://schemas.microsoft.com/office/drawing/2014/main" id="{B0434893-283B-4CE2-BDDC-EADA0A99F952}"/>
              </a:ext>
            </a:extLst>
          </p:cNvPr>
          <p:cNvSpPr>
            <a:spLocks noGrp="1"/>
          </p:cNvSpPr>
          <p:nvPr/>
        </p:nvSpPr>
        <p:spPr>
          <a:xfrm>
            <a:off x="9934575" y="1400175"/>
            <a:ext cx="953" cy="123825"/>
          </a:xfrm>
          <a:custGeom>
            <a:avLst/>
            <a:gdLst/>
            <a:ahLst/>
            <a:cxnLst/>
            <a:rect l="0" t="0" r="0" b="0"/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5" name="path-99">
            <a:extLst>
              <a:ext uri="{FF2B5EF4-FFF2-40B4-BE49-F238E27FC236}">
                <a16:creationId xmlns:a16="http://schemas.microsoft.com/office/drawing/2014/main" id="{AEE3C2E2-9C1F-40C1-9440-CA3C7304F4E7}"/>
              </a:ext>
            </a:extLst>
          </p:cNvPr>
          <p:cNvSpPr>
            <a:spLocks noGrp="1"/>
          </p:cNvSpPr>
          <p:nvPr/>
        </p:nvSpPr>
        <p:spPr>
          <a:xfrm>
            <a:off x="3762375" y="1524000"/>
            <a:ext cx="8715375" cy="953"/>
          </a:xfrm>
          <a:custGeom>
            <a:avLst/>
            <a:gdLst/>
            <a:ahLst/>
            <a:cxnLst/>
            <a:rect l="0" t="0" r="0" b="0"/>
            <a:pathLst>
              <a:path w="8715375" h="953">
                <a:moveTo>
                  <a:pt x="0" y="0"/>
                </a:moveTo>
                <a:lnTo>
                  <a:pt x="8715375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6" name="vector-100">
            <a:extLst>
              <a:ext uri="{FF2B5EF4-FFF2-40B4-BE49-F238E27FC236}">
                <a16:creationId xmlns:a16="http://schemas.microsoft.com/office/drawing/2014/main" id="{1CF89131-154A-4BBA-9016-EB50801A35F0}"/>
              </a:ext>
            </a:extLst>
          </p:cNvPr>
          <p:cNvSpPr>
            <a:spLocks noGrp="1"/>
          </p:cNvSpPr>
          <p:nvPr/>
        </p:nvSpPr>
        <p:spPr>
          <a:xfrm>
            <a:off x="3761899" y="15235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7" name="vector-101">
            <a:extLst>
              <a:ext uri="{FF2B5EF4-FFF2-40B4-BE49-F238E27FC236}">
                <a16:creationId xmlns:a16="http://schemas.microsoft.com/office/drawing/2014/main" id="{A1F65A38-378B-4EB8-8F3A-94C1B3E30CB8}"/>
              </a:ext>
            </a:extLst>
          </p:cNvPr>
          <p:cNvSpPr>
            <a:spLocks noGrp="1"/>
          </p:cNvSpPr>
          <p:nvPr/>
        </p:nvSpPr>
        <p:spPr>
          <a:xfrm>
            <a:off x="3761899" y="17235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28" name="Straight Arrow Connector 327"/>
          <p:cNvCxnSpPr>
            <a:stCxn id="106" idx="2"/>
            <a:endCxn id="107" idx="0"/>
          </p:cNvCxnSpPr>
          <p:nvPr/>
        </p:nvCxnSpPr>
        <p:spPr>
          <a:xfrm>
            <a:off x="3762376" y="1524477"/>
            <a:ext cx="0" cy="199072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109" name="vector-102">
            <a:extLst>
              <a:ext uri="{FF2B5EF4-FFF2-40B4-BE49-F238E27FC236}">
                <a16:creationId xmlns:a16="http://schemas.microsoft.com/office/drawing/2014/main" id="{0C04DC75-664E-47EA-AE25-C2CF87040EFA}"/>
              </a:ext>
            </a:extLst>
          </p:cNvPr>
          <p:cNvSpPr>
            <a:spLocks noGrp="1"/>
          </p:cNvSpPr>
          <p:nvPr/>
        </p:nvSpPr>
        <p:spPr>
          <a:xfrm>
            <a:off x="12477274" y="15235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0" name="vector-103">
            <a:extLst>
              <a:ext uri="{FF2B5EF4-FFF2-40B4-BE49-F238E27FC236}">
                <a16:creationId xmlns:a16="http://schemas.microsoft.com/office/drawing/2014/main" id="{A14FAFC4-D3D0-4EB9-B94B-D69A7CEC2712}"/>
              </a:ext>
            </a:extLst>
          </p:cNvPr>
          <p:cNvSpPr>
            <a:spLocks noGrp="1"/>
          </p:cNvSpPr>
          <p:nvPr/>
        </p:nvSpPr>
        <p:spPr>
          <a:xfrm>
            <a:off x="12477274" y="17235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31" name="Straight Arrow Connector 330"/>
          <p:cNvCxnSpPr>
            <a:stCxn id="109" idx="2"/>
            <a:endCxn id="110" idx="0"/>
          </p:cNvCxnSpPr>
          <p:nvPr/>
        </p:nvCxnSpPr>
        <p:spPr>
          <a:xfrm>
            <a:off x="12477751" y="1524477"/>
            <a:ext cx="0" cy="199072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112" name="vector-104">
            <a:extLst>
              <a:ext uri="{FF2B5EF4-FFF2-40B4-BE49-F238E27FC236}">
                <a16:creationId xmlns:a16="http://schemas.microsoft.com/office/drawing/2014/main" id="{52D451EA-625F-43C3-BB45-7786BE60A8B7}"/>
              </a:ext>
            </a:extLst>
          </p:cNvPr>
          <p:cNvSpPr>
            <a:spLocks noGrp="1"/>
          </p:cNvSpPr>
          <p:nvPr/>
        </p:nvSpPr>
        <p:spPr>
          <a:xfrm>
            <a:off x="276225" y="1809750"/>
            <a:ext cx="7077075" cy="3714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(a) Routing Post-hoc TTA</a:t>
            </a:r>
          </a:p>
        </p:txBody>
      </p:sp>
      <p:sp>
        <p:nvSpPr>
          <p:cNvPr id="113" name="vector-105">
            <a:extLst>
              <a:ext uri="{FF2B5EF4-FFF2-40B4-BE49-F238E27FC236}">
                <a16:creationId xmlns:a16="http://schemas.microsoft.com/office/drawing/2014/main" id="{99FD8E13-A1F2-4D1E-BE31-6820AB0FB724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8610600" cy="3714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(b) Conformal Post-hoc TTA</a:t>
            </a:r>
          </a:p>
        </p:txBody>
      </p:sp>
      <p:sp>
        <p:nvSpPr>
          <p:cNvPr id="114" name="path-106">
            <a:extLst>
              <a:ext uri="{FF2B5EF4-FFF2-40B4-BE49-F238E27FC236}">
                <a16:creationId xmlns:a16="http://schemas.microsoft.com/office/drawing/2014/main" id="{95815686-B0E7-4DCE-8C75-9BD2D7D08E82}"/>
              </a:ext>
            </a:extLst>
          </p:cNvPr>
          <p:cNvSpPr>
            <a:spLocks noGrp="1"/>
          </p:cNvSpPr>
          <p:nvPr/>
        </p:nvSpPr>
        <p:spPr>
          <a:xfrm>
            <a:off x="7810500" y="1847850"/>
            <a:ext cx="953" cy="3400425"/>
          </a:xfrm>
          <a:custGeom>
            <a:avLst/>
            <a:gdLst/>
            <a:ahLst/>
            <a:cxnLst/>
            <a:rect l="0" t="0" r="0" b="0"/>
            <a:pathLst>
              <a:path w="953" h="3400425">
                <a:moveTo>
                  <a:pt x="0" y="0"/>
                </a:moveTo>
                <a:lnTo>
                  <a:pt x="0" y="3400425"/>
                </a:lnTo>
              </a:path>
            </a:pathLst>
          </a:custGeom>
          <a:noFill/>
          <a:ln w="11430">
            <a:solidFill>
              <a:srgbClr val="E7EBF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5" name="vector-107">
            <a:extLst>
              <a:ext uri="{FF2B5EF4-FFF2-40B4-BE49-F238E27FC236}">
                <a16:creationId xmlns:a16="http://schemas.microsoft.com/office/drawing/2014/main" id="{EB1D66E2-52E6-4B93-9098-E7906AB5A436}"/>
              </a:ext>
            </a:extLst>
          </p:cNvPr>
          <p:cNvSpPr>
            <a:spLocks noGrp="1"/>
          </p:cNvSpPr>
          <p:nvPr/>
        </p:nvSpPr>
        <p:spPr>
          <a:xfrm>
            <a:off x="1000125" y="2752725"/>
            <a:ext cx="723900" cy="723900"/>
          </a:xfrm>
          <a:prstGeom prst="ellipse">
            <a:avLst/>
          </a:prstGeom>
          <a:solidFill>
            <a:srgbClr val="EFF4FC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6" name="path-108">
            <a:extLst>
              <a:ext uri="{FF2B5EF4-FFF2-40B4-BE49-F238E27FC236}">
                <a16:creationId xmlns:a16="http://schemas.microsoft.com/office/drawing/2014/main" id="{EB83FC33-5D20-411B-B25F-1675E372EF48}"/>
              </a:ext>
            </a:extLst>
          </p:cNvPr>
          <p:cNvSpPr>
            <a:spLocks noGrp="1"/>
          </p:cNvSpPr>
          <p:nvPr/>
        </p:nvSpPr>
        <p:spPr>
          <a:xfrm>
            <a:off x="1104900" y="2905125"/>
            <a:ext cx="495300" cy="285750"/>
          </a:xfrm>
          <a:custGeom>
            <a:avLst/>
            <a:gdLst/>
            <a:ahLst/>
            <a:cxnLst/>
            <a:rect l="0" t="0" r="0" b="0"/>
            <a:pathLst>
              <a:path w="495300" h="285750">
                <a:moveTo>
                  <a:pt x="0" y="285750"/>
                </a:moveTo>
                <a:lnTo>
                  <a:pt x="38100" y="142875"/>
                </a:lnTo>
                <a:lnTo>
                  <a:pt x="133350" y="38100"/>
                </a:lnTo>
                <a:lnTo>
                  <a:pt x="266700" y="0"/>
                </a:lnTo>
                <a:lnTo>
                  <a:pt x="400050" y="66675"/>
                </a:lnTo>
                <a:lnTo>
                  <a:pt x="495300" y="171450"/>
                </a:lnTo>
              </a:path>
            </a:pathLst>
          </a:custGeom>
          <a:noFill/>
          <a:ln w="1905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7" name="path-109">
            <a:extLst>
              <a:ext uri="{FF2B5EF4-FFF2-40B4-BE49-F238E27FC236}">
                <a16:creationId xmlns:a16="http://schemas.microsoft.com/office/drawing/2014/main" id="{E9630C1F-5798-413E-8B52-F16ABAB774B0}"/>
              </a:ext>
            </a:extLst>
          </p:cNvPr>
          <p:cNvSpPr>
            <a:spLocks noGrp="1"/>
          </p:cNvSpPr>
          <p:nvPr/>
        </p:nvSpPr>
        <p:spPr>
          <a:xfrm>
            <a:off x="1362075" y="2981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171450"/>
                </a:moveTo>
                <a:lnTo>
                  <a:pt x="171450" y="0"/>
                </a:lnTo>
              </a:path>
            </a:pathLst>
          </a:custGeom>
          <a:noFill/>
          <a:ln w="25718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8" name="vector-110">
            <a:extLst>
              <a:ext uri="{FF2B5EF4-FFF2-40B4-BE49-F238E27FC236}">
                <a16:creationId xmlns:a16="http://schemas.microsoft.com/office/drawing/2014/main" id="{4F0E484E-AC3E-4913-BCC1-EA1354775DD9}"/>
              </a:ext>
            </a:extLst>
          </p:cNvPr>
          <p:cNvSpPr>
            <a:spLocks noGrp="1"/>
          </p:cNvSpPr>
          <p:nvPr/>
        </p:nvSpPr>
        <p:spPr>
          <a:xfrm>
            <a:off x="1326833" y="3117533"/>
            <a:ext cx="70485" cy="70485"/>
          </a:xfrm>
          <a:prstGeom prst="ellipse">
            <a:avLst/>
          </a:prstGeom>
          <a:solidFill>
            <a:srgbClr val="4A73BC"/>
          </a:solidFill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9" name="vector-111">
            <a:extLst>
              <a:ext uri="{FF2B5EF4-FFF2-40B4-BE49-F238E27FC236}">
                <a16:creationId xmlns:a16="http://schemas.microsoft.com/office/drawing/2014/main" id="{64136F12-D3CB-4A44-93A8-57990FE2593C}"/>
              </a:ext>
            </a:extLst>
          </p:cNvPr>
          <p:cNvSpPr>
            <a:spLocks noGrp="1"/>
          </p:cNvSpPr>
          <p:nvPr/>
        </p:nvSpPr>
        <p:spPr>
          <a:xfrm>
            <a:off x="342900" y="3629025"/>
            <a:ext cx="2085975" cy="2762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confidence / margin</a:t>
            </a:r>
          </a:p>
        </p:txBody>
      </p:sp>
      <p:sp>
        <p:nvSpPr>
          <p:cNvPr id="120" name="vector-112">
            <a:extLst>
              <a:ext uri="{FF2B5EF4-FFF2-40B4-BE49-F238E27FC236}">
                <a16:creationId xmlns:a16="http://schemas.microsoft.com/office/drawing/2014/main" id="{843A6A5E-2D1B-49FF-92C5-4618F19050B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2867025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calibrated max p or top-two gap</a:t>
            </a:r>
          </a:p>
        </p:txBody>
      </p:sp>
      <p:sp>
        <p:nvSpPr>
          <p:cNvPr id="121" name="vector-113">
            <a:extLst>
              <a:ext uri="{FF2B5EF4-FFF2-40B4-BE49-F238E27FC236}">
                <a16:creationId xmlns:a16="http://schemas.microsoft.com/office/drawing/2014/main" id="{0C1EB27F-7981-4E1F-906F-238C1516A2BC}"/>
              </a:ext>
            </a:extLst>
          </p:cNvPr>
          <p:cNvSpPr>
            <a:spLocks noGrp="1"/>
          </p:cNvSpPr>
          <p:nvPr/>
        </p:nvSpPr>
        <p:spPr>
          <a:xfrm>
            <a:off x="1790224" y="31141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22" name="vector-114">
            <a:extLst>
              <a:ext uri="{FF2B5EF4-FFF2-40B4-BE49-F238E27FC236}">
                <a16:creationId xmlns:a16="http://schemas.microsoft.com/office/drawing/2014/main" id="{8910610D-83D2-4AED-9510-0615FCB5047F}"/>
              </a:ext>
            </a:extLst>
          </p:cNvPr>
          <p:cNvSpPr>
            <a:spLocks noGrp="1"/>
          </p:cNvSpPr>
          <p:nvPr/>
        </p:nvSpPr>
        <p:spPr>
          <a:xfrm>
            <a:off x="2895124" y="31141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43" name="Straight Arrow Connector 342"/>
          <p:cNvCxnSpPr>
            <a:stCxn id="121" idx="3"/>
            <a:endCxn id="122" idx="1"/>
          </p:cNvCxnSpPr>
          <p:nvPr/>
        </p:nvCxnSpPr>
        <p:spPr>
          <a:xfrm>
            <a:off x="1791177" y="3114676"/>
            <a:ext cx="1103947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124" name="path-115">
            <a:extLst>
              <a:ext uri="{FF2B5EF4-FFF2-40B4-BE49-F238E27FC236}">
                <a16:creationId xmlns:a16="http://schemas.microsoft.com/office/drawing/2014/main" id="{D1F2BD25-C270-4277-945E-5903D3034395}"/>
              </a:ext>
            </a:extLst>
          </p:cNvPr>
          <p:cNvSpPr>
            <a:spLocks noGrp="1"/>
          </p:cNvSpPr>
          <p:nvPr/>
        </p:nvSpPr>
        <p:spPr>
          <a:xfrm>
            <a:off x="2924175" y="2714625"/>
            <a:ext cx="800100" cy="800100"/>
          </a:xfrm>
          <a:custGeom>
            <a:avLst/>
            <a:gdLst/>
            <a:ahLst/>
            <a:cxnLst/>
            <a:rect l="0" t="0" r="0" b="0"/>
            <a:pathLst>
              <a:path w="800100" h="800100">
                <a:moveTo>
                  <a:pt x="400050" y="0"/>
                </a:moveTo>
                <a:lnTo>
                  <a:pt x="800100" y="400050"/>
                </a:lnTo>
                <a:lnTo>
                  <a:pt x="400050" y="800100"/>
                </a:lnTo>
                <a:lnTo>
                  <a:pt x="0" y="400050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5" name="vector-116">
            <a:extLst>
              <a:ext uri="{FF2B5EF4-FFF2-40B4-BE49-F238E27FC236}">
                <a16:creationId xmlns:a16="http://schemas.microsoft.com/office/drawing/2014/main" id="{36088C0E-6EAB-4256-AB46-F1043A7AE7EF}"/>
              </a:ext>
            </a:extLst>
          </p:cNvPr>
          <p:cNvSpPr>
            <a:spLocks noGrp="1"/>
          </p:cNvSpPr>
          <p:nvPr/>
        </p:nvSpPr>
        <p:spPr>
          <a:xfrm>
            <a:off x="3124200" y="2924175"/>
            <a:ext cx="400050" cy="3714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126" name="path-117">
            <a:extLst>
              <a:ext uri="{FF2B5EF4-FFF2-40B4-BE49-F238E27FC236}">
                <a16:creationId xmlns:a16="http://schemas.microsoft.com/office/drawing/2014/main" id="{244422F9-28BE-4748-A83D-A8B2399EB95D}"/>
              </a:ext>
            </a:extLst>
          </p:cNvPr>
          <p:cNvSpPr>
            <a:spLocks noGrp="1"/>
          </p:cNvSpPr>
          <p:nvPr/>
        </p:nvSpPr>
        <p:spPr>
          <a:xfrm>
            <a:off x="3724275" y="2714625"/>
            <a:ext cx="1609725" cy="400050"/>
          </a:xfrm>
          <a:custGeom>
            <a:avLst/>
            <a:gdLst/>
            <a:ahLst/>
            <a:cxnLst/>
            <a:rect l="0" t="0" r="0" b="0"/>
            <a:pathLst>
              <a:path w="1609725" h="400050">
                <a:moveTo>
                  <a:pt x="0" y="400050"/>
                </a:moveTo>
                <a:lnTo>
                  <a:pt x="533400" y="400050"/>
                </a:lnTo>
                <a:lnTo>
                  <a:pt x="533400" y="0"/>
                </a:lnTo>
                <a:lnTo>
                  <a:pt x="1609725" y="0"/>
                </a:lnTo>
              </a:path>
            </a:pathLst>
          </a:custGeom>
          <a:noFill/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7" name="vector-118">
            <a:extLst>
              <a:ext uri="{FF2B5EF4-FFF2-40B4-BE49-F238E27FC236}">
                <a16:creationId xmlns:a16="http://schemas.microsoft.com/office/drawing/2014/main" id="{60CA6AB7-D897-44C6-B8C4-DF2C7318F19E}"/>
              </a:ext>
            </a:extLst>
          </p:cNvPr>
          <p:cNvSpPr>
            <a:spLocks noGrp="1"/>
          </p:cNvSpPr>
          <p:nvPr/>
        </p:nvSpPr>
        <p:spPr>
          <a:xfrm>
            <a:off x="5333524" y="27141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28" name="vector-119">
            <a:extLst>
              <a:ext uri="{FF2B5EF4-FFF2-40B4-BE49-F238E27FC236}">
                <a16:creationId xmlns:a16="http://schemas.microsoft.com/office/drawing/2014/main" id="{637B55C2-C1F1-42D5-BBD3-01299726F5C1}"/>
              </a:ext>
            </a:extLst>
          </p:cNvPr>
          <p:cNvSpPr>
            <a:spLocks noGrp="1"/>
          </p:cNvSpPr>
          <p:nvPr/>
        </p:nvSpPr>
        <p:spPr>
          <a:xfrm>
            <a:off x="5647849" y="27141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49" name="Straight Arrow Connector 348"/>
          <p:cNvCxnSpPr>
            <a:stCxn id="127" idx="3"/>
            <a:endCxn id="128" idx="1"/>
          </p:cNvCxnSpPr>
          <p:nvPr/>
        </p:nvCxnSpPr>
        <p:spPr>
          <a:xfrm>
            <a:off x="5334477" y="2714626"/>
            <a:ext cx="31337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30" name="vector-120">
            <a:extLst>
              <a:ext uri="{FF2B5EF4-FFF2-40B4-BE49-F238E27FC236}">
                <a16:creationId xmlns:a16="http://schemas.microsoft.com/office/drawing/2014/main" id="{89BED08E-6CAF-4FD3-92B0-85BC8E0D163B}"/>
              </a:ext>
            </a:extLst>
          </p:cNvPr>
          <p:cNvSpPr>
            <a:spLocks noGrp="1"/>
          </p:cNvSpPr>
          <p:nvPr/>
        </p:nvSpPr>
        <p:spPr>
          <a:xfrm>
            <a:off x="4438650" y="2390775"/>
            <a:ext cx="7429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≥ τ</a:t>
            </a:r>
          </a:p>
        </p:txBody>
      </p:sp>
      <p:sp>
        <p:nvSpPr>
          <p:cNvPr id="131" name="vector-121">
            <a:extLst>
              <a:ext uri="{FF2B5EF4-FFF2-40B4-BE49-F238E27FC236}">
                <a16:creationId xmlns:a16="http://schemas.microsoft.com/office/drawing/2014/main" id="{E0E72E79-31E4-4F1B-B2B4-40D3442F4D05}"/>
              </a:ext>
            </a:extLst>
          </p:cNvPr>
          <p:cNvSpPr>
            <a:spLocks noGrp="1"/>
          </p:cNvSpPr>
          <p:nvPr/>
        </p:nvSpPr>
        <p:spPr>
          <a:xfrm>
            <a:off x="5667375" y="2486025"/>
            <a:ext cx="457200" cy="45720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2" name="path-122">
            <a:extLst>
              <a:ext uri="{FF2B5EF4-FFF2-40B4-BE49-F238E27FC236}">
                <a16:creationId xmlns:a16="http://schemas.microsoft.com/office/drawing/2014/main" id="{0652092D-C4D7-4EF6-9F10-6F9C82FCDDF6}"/>
              </a:ext>
            </a:extLst>
          </p:cNvPr>
          <p:cNvSpPr>
            <a:spLocks noGrp="1"/>
          </p:cNvSpPr>
          <p:nvPr/>
        </p:nvSpPr>
        <p:spPr>
          <a:xfrm>
            <a:off x="5791200" y="2628900"/>
            <a:ext cx="219075" cy="171450"/>
          </a:xfrm>
          <a:custGeom>
            <a:avLst/>
            <a:gdLst/>
            <a:ahLst/>
            <a:cxnLst/>
            <a:rect l="0" t="0" r="0" b="0"/>
            <a:pathLst>
              <a:path w="219075" h="171450">
                <a:moveTo>
                  <a:pt x="0" y="85725"/>
                </a:moveTo>
                <a:lnTo>
                  <a:pt x="85725" y="171450"/>
                </a:lnTo>
                <a:lnTo>
                  <a:pt x="219075" y="0"/>
                </a:lnTo>
              </a:path>
            </a:pathLst>
          </a:custGeom>
          <a:noFill/>
          <a:ln w="2476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3" name="vector-123">
            <a:extLst>
              <a:ext uri="{FF2B5EF4-FFF2-40B4-BE49-F238E27FC236}">
                <a16:creationId xmlns:a16="http://schemas.microsoft.com/office/drawing/2014/main" id="{800EA066-2FA1-4D9A-B0AC-2D241E7158B0}"/>
              </a:ext>
            </a:extLst>
          </p:cNvPr>
          <p:cNvSpPr>
            <a:spLocks noGrp="1"/>
          </p:cNvSpPr>
          <p:nvPr/>
        </p:nvSpPr>
        <p:spPr>
          <a:xfrm>
            <a:off x="6200775" y="2571750"/>
            <a:ext cx="1066800" cy="2857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34" name="path-124">
            <a:extLst>
              <a:ext uri="{FF2B5EF4-FFF2-40B4-BE49-F238E27FC236}">
                <a16:creationId xmlns:a16="http://schemas.microsoft.com/office/drawing/2014/main" id="{D4505B52-E959-4D46-88A2-B86B9DF3434A}"/>
              </a:ext>
            </a:extLst>
          </p:cNvPr>
          <p:cNvSpPr>
            <a:spLocks noGrp="1"/>
          </p:cNvSpPr>
          <p:nvPr/>
        </p:nvSpPr>
        <p:spPr>
          <a:xfrm>
            <a:off x="3724275" y="3114675"/>
            <a:ext cx="1609725" cy="485775"/>
          </a:xfrm>
          <a:custGeom>
            <a:avLst/>
            <a:gdLst/>
            <a:ahLst/>
            <a:cxnLst/>
            <a:rect l="0" t="0" r="0" b="0"/>
            <a:pathLst>
              <a:path w="1609725" h="485775">
                <a:moveTo>
                  <a:pt x="0" y="0"/>
                </a:moveTo>
                <a:lnTo>
                  <a:pt x="533400" y="0"/>
                </a:lnTo>
                <a:lnTo>
                  <a:pt x="533400" y="485775"/>
                </a:lnTo>
                <a:lnTo>
                  <a:pt x="1609725" y="485775"/>
                </a:lnTo>
              </a:path>
            </a:pathLst>
          </a:custGeom>
          <a:noFill/>
          <a:ln w="17145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5" name="vector-125">
            <a:extLst>
              <a:ext uri="{FF2B5EF4-FFF2-40B4-BE49-F238E27FC236}">
                <a16:creationId xmlns:a16="http://schemas.microsoft.com/office/drawing/2014/main" id="{97C3C81D-DDB4-489D-9D57-7A06BD9E3C48}"/>
              </a:ext>
            </a:extLst>
          </p:cNvPr>
          <p:cNvSpPr>
            <a:spLocks noGrp="1"/>
          </p:cNvSpPr>
          <p:nvPr/>
        </p:nvSpPr>
        <p:spPr>
          <a:xfrm>
            <a:off x="5333524" y="35999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36" name="vector-126">
            <a:extLst>
              <a:ext uri="{FF2B5EF4-FFF2-40B4-BE49-F238E27FC236}">
                <a16:creationId xmlns:a16="http://schemas.microsoft.com/office/drawing/2014/main" id="{5D419076-8200-4CA9-88FA-5A3495C63DBB}"/>
              </a:ext>
            </a:extLst>
          </p:cNvPr>
          <p:cNvSpPr>
            <a:spLocks noGrp="1"/>
          </p:cNvSpPr>
          <p:nvPr/>
        </p:nvSpPr>
        <p:spPr>
          <a:xfrm>
            <a:off x="5647849" y="35999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57" name="Straight Arrow Connector 356"/>
          <p:cNvCxnSpPr>
            <a:stCxn id="135" idx="3"/>
            <a:endCxn id="136" idx="1"/>
          </p:cNvCxnSpPr>
          <p:nvPr/>
        </p:nvCxnSpPr>
        <p:spPr>
          <a:xfrm>
            <a:off x="5334477" y="3600451"/>
            <a:ext cx="313372" cy="0"/>
          </a:xfrm>
          <a:prstGeom prst="straightConnector1">
            <a:avLst/>
          </a:prstGeom>
          <a:ln w="17145">
            <a:solidFill>
              <a:srgbClr val="747E8A"/>
            </a:solidFill>
            <a:tailEnd type="triangle" w="sm" len="sm"/>
          </a:ln>
        </p:spPr>
      </p:cxnSp>
      <p:sp>
        <p:nvSpPr>
          <p:cNvPr id="138" name="vector-127">
            <a:extLst>
              <a:ext uri="{FF2B5EF4-FFF2-40B4-BE49-F238E27FC236}">
                <a16:creationId xmlns:a16="http://schemas.microsoft.com/office/drawing/2014/main" id="{6B617964-1A49-4063-8CCA-92EBEB542BCF}"/>
              </a:ext>
            </a:extLst>
          </p:cNvPr>
          <p:cNvSpPr>
            <a:spLocks noGrp="1"/>
          </p:cNvSpPr>
          <p:nvPr/>
        </p:nvSpPr>
        <p:spPr>
          <a:xfrm>
            <a:off x="4495800" y="3276600"/>
            <a:ext cx="638175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&lt; τ</a:t>
            </a:r>
          </a:p>
        </p:txBody>
      </p:sp>
      <p:sp>
        <p:nvSpPr>
          <p:cNvPr id="139" name="vector-128">
            <a:extLst>
              <a:ext uri="{FF2B5EF4-FFF2-40B4-BE49-F238E27FC236}">
                <a16:creationId xmlns:a16="http://schemas.microsoft.com/office/drawing/2014/main" id="{F7FBE662-54EC-478F-AF22-637C5D0C9058}"/>
              </a:ext>
            </a:extLst>
          </p:cNvPr>
          <p:cNvSpPr>
            <a:spLocks noGrp="1"/>
          </p:cNvSpPr>
          <p:nvPr/>
        </p:nvSpPr>
        <p:spPr>
          <a:xfrm>
            <a:off x="5667375" y="337185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0" name="path-129">
            <a:extLst>
              <a:ext uri="{FF2B5EF4-FFF2-40B4-BE49-F238E27FC236}">
                <a16:creationId xmlns:a16="http://schemas.microsoft.com/office/drawing/2014/main" id="{F91A416F-53D2-4346-AEB3-C9548324F980}"/>
              </a:ext>
            </a:extLst>
          </p:cNvPr>
          <p:cNvSpPr>
            <a:spLocks noGrp="1"/>
          </p:cNvSpPr>
          <p:nvPr/>
        </p:nvSpPr>
        <p:spPr>
          <a:xfrm>
            <a:off x="5791200" y="3552825"/>
            <a:ext cx="190500" cy="114300"/>
          </a:xfrm>
          <a:custGeom>
            <a:avLst/>
            <a:gdLst/>
            <a:ahLst/>
            <a:cxnLst/>
            <a:rect l="0" t="0" r="0" b="0"/>
            <a:pathLst>
              <a:path w="190500" h="114300">
                <a:moveTo>
                  <a:pt x="0" y="114300"/>
                </a:moveTo>
                <a:lnTo>
                  <a:pt x="0" y="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1" name="vector-130">
            <a:extLst>
              <a:ext uri="{FF2B5EF4-FFF2-40B4-BE49-F238E27FC236}">
                <a16:creationId xmlns:a16="http://schemas.microsoft.com/office/drawing/2014/main" id="{5496DE20-D3DD-4A4B-B391-CEEFB4BE3DFD}"/>
              </a:ext>
            </a:extLst>
          </p:cNvPr>
          <p:cNvSpPr>
            <a:spLocks noGrp="1"/>
          </p:cNvSpPr>
          <p:nvPr/>
        </p:nvSpPr>
        <p:spPr>
          <a:xfrm>
            <a:off x="5981224" y="35523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42" name="vector-131">
            <a:extLst>
              <a:ext uri="{FF2B5EF4-FFF2-40B4-BE49-F238E27FC236}">
                <a16:creationId xmlns:a16="http://schemas.microsoft.com/office/drawing/2014/main" id="{6D25C536-A343-4B84-AF44-E54292CB925D}"/>
              </a:ext>
            </a:extLst>
          </p:cNvPr>
          <p:cNvSpPr>
            <a:spLocks noGrp="1"/>
          </p:cNvSpPr>
          <p:nvPr/>
        </p:nvSpPr>
        <p:spPr>
          <a:xfrm>
            <a:off x="6038374" y="355234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63" name="Straight Arrow Connector 362"/>
          <p:cNvCxnSpPr>
            <a:stCxn id="141" idx="3"/>
            <a:endCxn id="142" idx="1"/>
          </p:cNvCxnSpPr>
          <p:nvPr/>
        </p:nvCxnSpPr>
        <p:spPr>
          <a:xfrm>
            <a:off x="5982177" y="3552826"/>
            <a:ext cx="56197" cy="0"/>
          </a:xfrm>
          <a:prstGeom prst="straightConnector1">
            <a:avLst/>
          </a:prstGeom>
          <a:ln w="17145">
            <a:solidFill>
              <a:srgbClr val="747E8A"/>
            </a:solidFill>
            <a:tailEnd type="triangle" w="sm" len="sm"/>
          </a:ln>
        </p:spPr>
      </p:cxnSp>
      <p:sp>
        <p:nvSpPr>
          <p:cNvPr id="144" name="vector-132">
            <a:extLst>
              <a:ext uri="{FF2B5EF4-FFF2-40B4-BE49-F238E27FC236}">
                <a16:creationId xmlns:a16="http://schemas.microsoft.com/office/drawing/2014/main" id="{B8C51D19-4380-4C9F-B934-520B2F9357C3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1095375" cy="2857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7E8A"/>
                </a:solidFill>
                <a:latin typeface="Arial"/>
                <a:ea typeface="Arial"/>
                <a:cs typeface="Arial"/>
              </a:rPr>
              <a:t>route /</a:t>
            </a:r>
          </a:p>
        </p:txBody>
      </p:sp>
      <p:sp>
        <p:nvSpPr>
          <p:cNvPr id="145" name="vector-133">
            <a:extLst>
              <a:ext uri="{FF2B5EF4-FFF2-40B4-BE49-F238E27FC236}">
                <a16:creationId xmlns:a16="http://schemas.microsoft.com/office/drawing/2014/main" id="{B23C03AA-4333-44FB-B077-C6BD56D400F8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1095375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7E8A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146" name="path-134">
            <a:extLst>
              <a:ext uri="{FF2B5EF4-FFF2-40B4-BE49-F238E27FC236}">
                <a16:creationId xmlns:a16="http://schemas.microsoft.com/office/drawing/2014/main" id="{9F7EB9D4-14C4-412A-9CC1-349D2D3FFF7E}"/>
              </a:ext>
            </a:extLst>
          </p:cNvPr>
          <p:cNvSpPr>
            <a:spLocks noGrp="1"/>
          </p:cNvSpPr>
          <p:nvPr/>
        </p:nvSpPr>
        <p:spPr>
          <a:xfrm>
            <a:off x="3257550" y="5057775"/>
            <a:ext cx="2200275" cy="953"/>
          </a:xfrm>
          <a:custGeom>
            <a:avLst/>
            <a:gdLst/>
            <a:ahLst/>
            <a:cxnLst/>
            <a:rect l="0" t="0" r="0" b="0"/>
            <a:pathLst>
              <a:path w="2200275" h="953">
                <a:moveTo>
                  <a:pt x="0" y="0"/>
                </a:moveTo>
                <a:lnTo>
                  <a:pt x="2200275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7" name="path-135">
            <a:extLst>
              <a:ext uri="{FF2B5EF4-FFF2-40B4-BE49-F238E27FC236}">
                <a16:creationId xmlns:a16="http://schemas.microsoft.com/office/drawing/2014/main" id="{3FD94B27-5931-46E7-A022-AFAF77314C0C}"/>
              </a:ext>
            </a:extLst>
          </p:cNvPr>
          <p:cNvSpPr>
            <a:spLocks noGrp="1"/>
          </p:cNvSpPr>
          <p:nvPr/>
        </p:nvSpPr>
        <p:spPr>
          <a:xfrm>
            <a:off x="3257550" y="4305300"/>
            <a:ext cx="953" cy="752475"/>
          </a:xfrm>
          <a:custGeom>
            <a:avLst/>
            <a:gdLst/>
            <a:ahLst/>
            <a:cxnLst/>
            <a:rect l="0" t="0" r="0" b="0"/>
            <a:pathLst>
              <a:path w="953" h="752475">
                <a:moveTo>
                  <a:pt x="0" y="75247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8" name="path-136">
            <a:extLst>
              <a:ext uri="{FF2B5EF4-FFF2-40B4-BE49-F238E27FC236}">
                <a16:creationId xmlns:a16="http://schemas.microsoft.com/office/drawing/2014/main" id="{A2CEB474-3136-4275-B2DB-AAC6DDB86CFA}"/>
              </a:ext>
            </a:extLst>
          </p:cNvPr>
          <p:cNvSpPr>
            <a:spLocks noGrp="1"/>
          </p:cNvSpPr>
          <p:nvPr/>
        </p:nvSpPr>
        <p:spPr>
          <a:xfrm>
            <a:off x="3343275" y="4410075"/>
            <a:ext cx="2000250" cy="581025"/>
          </a:xfrm>
          <a:custGeom>
            <a:avLst/>
            <a:gdLst/>
            <a:ahLst/>
            <a:cxnLst/>
            <a:rect l="0" t="0" r="0" b="0"/>
            <a:pathLst>
              <a:path w="2000250" h="581025">
                <a:moveTo>
                  <a:pt x="0" y="0"/>
                </a:moveTo>
                <a:lnTo>
                  <a:pt x="333375" y="66675"/>
                </a:lnTo>
                <a:lnTo>
                  <a:pt x="704850" y="161925"/>
                </a:lnTo>
                <a:lnTo>
                  <a:pt x="1066800" y="333375"/>
                </a:lnTo>
                <a:lnTo>
                  <a:pt x="1428750" y="485775"/>
                </a:lnTo>
                <a:lnTo>
                  <a:pt x="2000250" y="581025"/>
                </a:lnTo>
              </a:path>
            </a:pathLst>
          </a:custGeom>
          <a:noFill/>
          <a:ln w="2095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9" name="vector-137">
            <a:extLst>
              <a:ext uri="{FF2B5EF4-FFF2-40B4-BE49-F238E27FC236}">
                <a16:creationId xmlns:a16="http://schemas.microsoft.com/office/drawing/2014/main" id="{8C546AB8-5A56-4D6F-9E72-85D53149D102}"/>
              </a:ext>
            </a:extLst>
          </p:cNvPr>
          <p:cNvSpPr>
            <a:spLocks noGrp="1"/>
          </p:cNvSpPr>
          <p:nvPr/>
        </p:nvSpPr>
        <p:spPr>
          <a:xfrm>
            <a:off x="3314700" y="4381500"/>
            <a:ext cx="57150" cy="571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0" name="vector-138">
            <a:extLst>
              <a:ext uri="{FF2B5EF4-FFF2-40B4-BE49-F238E27FC236}">
                <a16:creationId xmlns:a16="http://schemas.microsoft.com/office/drawing/2014/main" id="{684CD83F-FFF3-4DAF-AC2B-1C41E8B5F5AD}"/>
              </a:ext>
            </a:extLst>
          </p:cNvPr>
          <p:cNvSpPr>
            <a:spLocks noGrp="1"/>
          </p:cNvSpPr>
          <p:nvPr/>
        </p:nvSpPr>
        <p:spPr>
          <a:xfrm>
            <a:off x="3648075" y="4448175"/>
            <a:ext cx="57150" cy="571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1" name="vector-139">
            <a:extLst>
              <a:ext uri="{FF2B5EF4-FFF2-40B4-BE49-F238E27FC236}">
                <a16:creationId xmlns:a16="http://schemas.microsoft.com/office/drawing/2014/main" id="{E72BC9BD-44AB-4C50-9E29-B61896FE3477}"/>
              </a:ext>
            </a:extLst>
          </p:cNvPr>
          <p:cNvSpPr>
            <a:spLocks noGrp="1"/>
          </p:cNvSpPr>
          <p:nvPr/>
        </p:nvSpPr>
        <p:spPr>
          <a:xfrm>
            <a:off x="4019550" y="4543425"/>
            <a:ext cx="57150" cy="571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2" name="vector-140">
            <a:extLst>
              <a:ext uri="{FF2B5EF4-FFF2-40B4-BE49-F238E27FC236}">
                <a16:creationId xmlns:a16="http://schemas.microsoft.com/office/drawing/2014/main" id="{A206BDFB-0BC4-40BE-AFCD-655B3CF62ADA}"/>
              </a:ext>
            </a:extLst>
          </p:cNvPr>
          <p:cNvSpPr>
            <a:spLocks noGrp="1"/>
          </p:cNvSpPr>
          <p:nvPr/>
        </p:nvSpPr>
        <p:spPr>
          <a:xfrm>
            <a:off x="4367213" y="4700588"/>
            <a:ext cx="85725" cy="85725"/>
          </a:xfrm>
          <a:prstGeom prst="ellipse">
            <a:avLst/>
          </a:prstGeom>
          <a:solidFill>
            <a:srgbClr val="4A73BC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3" name="vector-141">
            <a:extLst>
              <a:ext uri="{FF2B5EF4-FFF2-40B4-BE49-F238E27FC236}">
                <a16:creationId xmlns:a16="http://schemas.microsoft.com/office/drawing/2014/main" id="{634F68F6-E7AB-4D81-995B-FD906D563A55}"/>
              </a:ext>
            </a:extLst>
          </p:cNvPr>
          <p:cNvSpPr>
            <a:spLocks noGrp="1"/>
          </p:cNvSpPr>
          <p:nvPr/>
        </p:nvSpPr>
        <p:spPr>
          <a:xfrm>
            <a:off x="4743450" y="4867275"/>
            <a:ext cx="57150" cy="571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4" name="vector-142">
            <a:extLst>
              <a:ext uri="{FF2B5EF4-FFF2-40B4-BE49-F238E27FC236}">
                <a16:creationId xmlns:a16="http://schemas.microsoft.com/office/drawing/2014/main" id="{A4172163-D658-46C0-A6D1-6EA46F5875BD}"/>
              </a:ext>
            </a:extLst>
          </p:cNvPr>
          <p:cNvSpPr>
            <a:spLocks noGrp="1"/>
          </p:cNvSpPr>
          <p:nvPr/>
        </p:nvSpPr>
        <p:spPr>
          <a:xfrm>
            <a:off x="5314950" y="4962525"/>
            <a:ext cx="57150" cy="571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5" name="vector-143">
            <a:extLst>
              <a:ext uri="{FF2B5EF4-FFF2-40B4-BE49-F238E27FC236}">
                <a16:creationId xmlns:a16="http://schemas.microsoft.com/office/drawing/2014/main" id="{E09B40E8-BCD1-4AF2-BE40-AEE92AC41805}"/>
              </a:ext>
            </a:extLst>
          </p:cNvPr>
          <p:cNvSpPr>
            <a:spLocks noGrp="1"/>
          </p:cNvSpPr>
          <p:nvPr/>
        </p:nvSpPr>
        <p:spPr>
          <a:xfrm>
            <a:off x="1943100" y="4400550"/>
            <a:ext cx="1152525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56" name="vector-144">
            <a:extLst>
              <a:ext uri="{FF2B5EF4-FFF2-40B4-BE49-F238E27FC236}">
                <a16:creationId xmlns:a16="http://schemas.microsoft.com/office/drawing/2014/main" id="{65C7A03C-4361-4AFE-AC1C-37914BF338F4}"/>
              </a:ext>
            </a:extLst>
          </p:cNvPr>
          <p:cNvSpPr>
            <a:spLocks noGrp="1"/>
          </p:cNvSpPr>
          <p:nvPr/>
        </p:nvSpPr>
        <p:spPr>
          <a:xfrm>
            <a:off x="3810000" y="5105400"/>
            <a:ext cx="1228725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57" name="vector-145">
            <a:extLst>
              <a:ext uri="{FF2B5EF4-FFF2-40B4-BE49-F238E27FC236}">
                <a16:creationId xmlns:a16="http://schemas.microsoft.com/office/drawing/2014/main" id="{9356A236-02E9-4C96-88D5-0789C2F907A0}"/>
              </a:ext>
            </a:extLst>
          </p:cNvPr>
          <p:cNvSpPr>
            <a:spLocks noGrp="1"/>
          </p:cNvSpPr>
          <p:nvPr/>
        </p:nvSpPr>
        <p:spPr>
          <a:xfrm>
            <a:off x="5819775" y="4581525"/>
            <a:ext cx="1381125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sweep τ</a:t>
            </a:r>
          </a:p>
        </p:txBody>
      </p:sp>
      <p:sp>
        <p:nvSpPr>
          <p:cNvPr id="158" name="vector-146">
            <a:extLst>
              <a:ext uri="{FF2B5EF4-FFF2-40B4-BE49-F238E27FC236}">
                <a16:creationId xmlns:a16="http://schemas.microsoft.com/office/drawing/2014/main" id="{5076004A-F7CB-4FD8-9D5B-B2061E68729A}"/>
              </a:ext>
            </a:extLst>
          </p:cNvPr>
          <p:cNvSpPr>
            <a:spLocks noGrp="1"/>
          </p:cNvSpPr>
          <p:nvPr/>
        </p:nvSpPr>
        <p:spPr>
          <a:xfrm>
            <a:off x="8153400" y="2324100"/>
            <a:ext cx="228600" cy="22860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9" name="vector-147">
            <a:extLst>
              <a:ext uri="{FF2B5EF4-FFF2-40B4-BE49-F238E27FC236}">
                <a16:creationId xmlns:a16="http://schemas.microsoft.com/office/drawing/2014/main" id="{965F04A1-5A6C-45D5-B884-49A7BD2BAF62}"/>
              </a:ext>
            </a:extLst>
          </p:cNvPr>
          <p:cNvSpPr>
            <a:spLocks noGrp="1"/>
          </p:cNvSpPr>
          <p:nvPr/>
        </p:nvSpPr>
        <p:spPr>
          <a:xfrm>
            <a:off x="8162925" y="2314575"/>
            <a:ext cx="209550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0" name="vector-148">
            <a:extLst>
              <a:ext uri="{FF2B5EF4-FFF2-40B4-BE49-F238E27FC236}">
                <a16:creationId xmlns:a16="http://schemas.microsoft.com/office/drawing/2014/main" id="{1083EA2F-3CC2-4CCC-839C-A3EEE0857FB6}"/>
              </a:ext>
            </a:extLst>
          </p:cNvPr>
          <p:cNvSpPr>
            <a:spLocks noGrp="1"/>
          </p:cNvSpPr>
          <p:nvPr/>
        </p:nvSpPr>
        <p:spPr>
          <a:xfrm>
            <a:off x="8486775" y="2305050"/>
            <a:ext cx="28575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1725" dirty="0">
                <a:solidFill>
                  <a:srgbClr val="28323E"/>
                </a:solidFill>
                <a:latin typeface="Arial"/>
                <a:ea typeface="Arial"/>
                <a:cs typeface="Arial"/>
              </a:rPr>
              <a:t>Calibrate the cutoff</a:t>
            </a:r>
          </a:p>
        </p:txBody>
      </p:sp>
      <p:sp>
        <p:nvSpPr>
          <p:cNvPr id="161" name="vector-149">
            <a:extLst>
              <a:ext uri="{FF2B5EF4-FFF2-40B4-BE49-F238E27FC236}">
                <a16:creationId xmlns:a16="http://schemas.microsoft.com/office/drawing/2014/main" id="{499952F4-78E2-4ED5-9542-C1195D5370DC}"/>
              </a:ext>
            </a:extLst>
          </p:cNvPr>
          <p:cNvSpPr>
            <a:spLocks noGrp="1"/>
          </p:cNvSpPr>
          <p:nvPr/>
        </p:nvSpPr>
        <p:spPr>
          <a:xfrm>
            <a:off x="9229725" y="2600325"/>
            <a:ext cx="342900" cy="438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2" name="path-150">
            <a:extLst>
              <a:ext uri="{FF2B5EF4-FFF2-40B4-BE49-F238E27FC236}">
                <a16:creationId xmlns:a16="http://schemas.microsoft.com/office/drawing/2014/main" id="{D41A8EC0-7440-4868-A213-6D70F3FD0FDB}"/>
              </a:ext>
            </a:extLst>
          </p:cNvPr>
          <p:cNvSpPr>
            <a:spLocks noGrp="1"/>
          </p:cNvSpPr>
          <p:nvPr/>
        </p:nvSpPr>
        <p:spPr>
          <a:xfrm>
            <a:off x="9305925" y="271462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3" name="path-151">
            <a:extLst>
              <a:ext uri="{FF2B5EF4-FFF2-40B4-BE49-F238E27FC236}">
                <a16:creationId xmlns:a16="http://schemas.microsoft.com/office/drawing/2014/main" id="{582FE611-2015-492D-ADFB-F2247B0D4B57}"/>
              </a:ext>
            </a:extLst>
          </p:cNvPr>
          <p:cNvSpPr>
            <a:spLocks noGrp="1"/>
          </p:cNvSpPr>
          <p:nvPr/>
        </p:nvSpPr>
        <p:spPr>
          <a:xfrm>
            <a:off x="9305925" y="280987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4" name="path-152">
            <a:extLst>
              <a:ext uri="{FF2B5EF4-FFF2-40B4-BE49-F238E27FC236}">
                <a16:creationId xmlns:a16="http://schemas.microsoft.com/office/drawing/2014/main" id="{5D4FF6BD-A7F7-4EE3-A8A2-0C120E44E14C}"/>
              </a:ext>
            </a:extLst>
          </p:cNvPr>
          <p:cNvSpPr>
            <a:spLocks noGrp="1"/>
          </p:cNvSpPr>
          <p:nvPr/>
        </p:nvSpPr>
        <p:spPr>
          <a:xfrm>
            <a:off x="9305925" y="290512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5" name="vector-153">
            <a:extLst>
              <a:ext uri="{FF2B5EF4-FFF2-40B4-BE49-F238E27FC236}">
                <a16:creationId xmlns:a16="http://schemas.microsoft.com/office/drawing/2014/main" id="{C238C77F-D6B9-40B4-B376-21E1608B6BB4}"/>
              </a:ext>
            </a:extLst>
          </p:cNvPr>
          <p:cNvSpPr>
            <a:spLocks noGrp="1"/>
          </p:cNvSpPr>
          <p:nvPr/>
        </p:nvSpPr>
        <p:spPr>
          <a:xfrm>
            <a:off x="9182100" y="2647950"/>
            <a:ext cx="342900" cy="438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6" name="path-154">
            <a:extLst>
              <a:ext uri="{FF2B5EF4-FFF2-40B4-BE49-F238E27FC236}">
                <a16:creationId xmlns:a16="http://schemas.microsoft.com/office/drawing/2014/main" id="{664A57FB-9322-4ED7-A83C-897542995453}"/>
              </a:ext>
            </a:extLst>
          </p:cNvPr>
          <p:cNvSpPr>
            <a:spLocks noGrp="1"/>
          </p:cNvSpPr>
          <p:nvPr/>
        </p:nvSpPr>
        <p:spPr>
          <a:xfrm>
            <a:off x="9258300" y="2762250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7" name="path-155">
            <a:extLst>
              <a:ext uri="{FF2B5EF4-FFF2-40B4-BE49-F238E27FC236}">
                <a16:creationId xmlns:a16="http://schemas.microsoft.com/office/drawing/2014/main" id="{5A4FE7F1-7DE7-4180-A3A9-6A3A6FDF598A}"/>
              </a:ext>
            </a:extLst>
          </p:cNvPr>
          <p:cNvSpPr>
            <a:spLocks noGrp="1"/>
          </p:cNvSpPr>
          <p:nvPr/>
        </p:nvSpPr>
        <p:spPr>
          <a:xfrm>
            <a:off x="9258300" y="2857500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8" name="path-156">
            <a:extLst>
              <a:ext uri="{FF2B5EF4-FFF2-40B4-BE49-F238E27FC236}">
                <a16:creationId xmlns:a16="http://schemas.microsoft.com/office/drawing/2014/main" id="{90C91EF4-ED9A-4E37-AE84-F1488D9032AE}"/>
              </a:ext>
            </a:extLst>
          </p:cNvPr>
          <p:cNvSpPr>
            <a:spLocks noGrp="1"/>
          </p:cNvSpPr>
          <p:nvPr/>
        </p:nvSpPr>
        <p:spPr>
          <a:xfrm>
            <a:off x="9258300" y="2952750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9" name="vector-157">
            <a:extLst>
              <a:ext uri="{FF2B5EF4-FFF2-40B4-BE49-F238E27FC236}">
                <a16:creationId xmlns:a16="http://schemas.microsoft.com/office/drawing/2014/main" id="{11F08B11-7DDA-49C1-8275-FDE7FF882794}"/>
              </a:ext>
            </a:extLst>
          </p:cNvPr>
          <p:cNvSpPr>
            <a:spLocks noGrp="1"/>
          </p:cNvSpPr>
          <p:nvPr/>
        </p:nvSpPr>
        <p:spPr>
          <a:xfrm>
            <a:off x="9134475" y="2695575"/>
            <a:ext cx="342900" cy="438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0" name="path-158">
            <a:extLst>
              <a:ext uri="{FF2B5EF4-FFF2-40B4-BE49-F238E27FC236}">
                <a16:creationId xmlns:a16="http://schemas.microsoft.com/office/drawing/2014/main" id="{D85B6EC4-C742-4C03-BED3-ACD66EF43430}"/>
              </a:ext>
            </a:extLst>
          </p:cNvPr>
          <p:cNvSpPr>
            <a:spLocks noGrp="1"/>
          </p:cNvSpPr>
          <p:nvPr/>
        </p:nvSpPr>
        <p:spPr>
          <a:xfrm>
            <a:off x="9210675" y="280987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1" name="path-159">
            <a:extLst>
              <a:ext uri="{FF2B5EF4-FFF2-40B4-BE49-F238E27FC236}">
                <a16:creationId xmlns:a16="http://schemas.microsoft.com/office/drawing/2014/main" id="{C9F1244B-D07B-4DC2-A515-81BD0B0A2AFE}"/>
              </a:ext>
            </a:extLst>
          </p:cNvPr>
          <p:cNvSpPr>
            <a:spLocks noGrp="1"/>
          </p:cNvSpPr>
          <p:nvPr/>
        </p:nvSpPr>
        <p:spPr>
          <a:xfrm>
            <a:off x="9210675" y="290512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2" name="path-160">
            <a:extLst>
              <a:ext uri="{FF2B5EF4-FFF2-40B4-BE49-F238E27FC236}">
                <a16:creationId xmlns:a16="http://schemas.microsoft.com/office/drawing/2014/main" id="{49D48BDC-E9B0-46E3-8C8A-918B8BBEF0A9}"/>
              </a:ext>
            </a:extLst>
          </p:cNvPr>
          <p:cNvSpPr>
            <a:spLocks noGrp="1"/>
          </p:cNvSpPr>
          <p:nvPr/>
        </p:nvSpPr>
        <p:spPr>
          <a:xfrm>
            <a:off x="9210675" y="3000375"/>
            <a:ext cx="200025" cy="953"/>
          </a:xfrm>
          <a:custGeom>
            <a:avLst/>
            <a:gdLst/>
            <a:ahLst/>
            <a:cxnLst/>
            <a:rect l="0" t="0" r="0" b="0"/>
            <a:pathLst>
              <a:path w="200025" h="953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238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3" name="vector-161">
            <a:extLst>
              <a:ext uri="{FF2B5EF4-FFF2-40B4-BE49-F238E27FC236}">
                <a16:creationId xmlns:a16="http://schemas.microsoft.com/office/drawing/2014/main" id="{38322CDD-E74E-4ABF-BE9C-B4E3C19C2350}"/>
              </a:ext>
            </a:extLst>
          </p:cNvPr>
          <p:cNvSpPr>
            <a:spLocks noGrp="1"/>
          </p:cNvSpPr>
          <p:nvPr/>
        </p:nvSpPr>
        <p:spPr>
          <a:xfrm>
            <a:off x="8229600" y="3238500"/>
            <a:ext cx="190500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held-out examples</a:t>
            </a:r>
          </a:p>
        </p:txBody>
      </p:sp>
      <p:sp>
        <p:nvSpPr>
          <p:cNvPr id="174" name="vector-162">
            <a:extLst>
              <a:ext uri="{FF2B5EF4-FFF2-40B4-BE49-F238E27FC236}">
                <a16:creationId xmlns:a16="http://schemas.microsoft.com/office/drawing/2014/main" id="{1F034944-5B81-45C0-B7B8-F09584083844}"/>
              </a:ext>
            </a:extLst>
          </p:cNvPr>
          <p:cNvSpPr>
            <a:spLocks noGrp="1"/>
          </p:cNvSpPr>
          <p:nvPr/>
        </p:nvSpPr>
        <p:spPr>
          <a:xfrm>
            <a:off x="9686449" y="29141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75" name="vector-163">
            <a:extLst>
              <a:ext uri="{FF2B5EF4-FFF2-40B4-BE49-F238E27FC236}">
                <a16:creationId xmlns:a16="http://schemas.microsoft.com/office/drawing/2014/main" id="{66DD16DC-3563-4B19-9D49-04E7703A14B6}"/>
              </a:ext>
            </a:extLst>
          </p:cNvPr>
          <p:cNvSpPr>
            <a:spLocks noGrp="1"/>
          </p:cNvSpPr>
          <p:nvPr/>
        </p:nvSpPr>
        <p:spPr>
          <a:xfrm>
            <a:off x="10296049" y="29141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96" name="Straight Arrow Connector 395"/>
          <p:cNvCxnSpPr>
            <a:stCxn id="174" idx="3"/>
            <a:endCxn id="175" idx="1"/>
          </p:cNvCxnSpPr>
          <p:nvPr/>
        </p:nvCxnSpPr>
        <p:spPr>
          <a:xfrm>
            <a:off x="9687402" y="2914651"/>
            <a:ext cx="608647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77" name="vector-164">
            <a:extLst>
              <a:ext uri="{FF2B5EF4-FFF2-40B4-BE49-F238E27FC236}">
                <a16:creationId xmlns:a16="http://schemas.microsoft.com/office/drawing/2014/main" id="{98D2CDE5-0D0C-4BFB-881A-005886699783}"/>
              </a:ext>
            </a:extLst>
          </p:cNvPr>
          <p:cNvSpPr>
            <a:spLocks noGrp="1"/>
          </p:cNvSpPr>
          <p:nvPr/>
        </p:nvSpPr>
        <p:spPr>
          <a:xfrm>
            <a:off x="10467975" y="2867025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8" name="vector-165">
            <a:extLst>
              <a:ext uri="{FF2B5EF4-FFF2-40B4-BE49-F238E27FC236}">
                <a16:creationId xmlns:a16="http://schemas.microsoft.com/office/drawing/2014/main" id="{4ADFEA6D-C9A1-4035-8829-D35B3FE70D6A}"/>
              </a:ext>
            </a:extLst>
          </p:cNvPr>
          <p:cNvSpPr>
            <a:spLocks noGrp="1"/>
          </p:cNvSpPr>
          <p:nvPr/>
        </p:nvSpPr>
        <p:spPr>
          <a:xfrm>
            <a:off x="10687050" y="2867025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9" name="vector-166">
            <a:extLst>
              <a:ext uri="{FF2B5EF4-FFF2-40B4-BE49-F238E27FC236}">
                <a16:creationId xmlns:a16="http://schemas.microsoft.com/office/drawing/2014/main" id="{39B68274-3D3C-41E1-8994-13451E71B748}"/>
              </a:ext>
            </a:extLst>
          </p:cNvPr>
          <p:cNvSpPr>
            <a:spLocks noGrp="1"/>
          </p:cNvSpPr>
          <p:nvPr/>
        </p:nvSpPr>
        <p:spPr>
          <a:xfrm>
            <a:off x="10906125" y="2867025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0" name="vector-167">
            <a:extLst>
              <a:ext uri="{FF2B5EF4-FFF2-40B4-BE49-F238E27FC236}">
                <a16:creationId xmlns:a16="http://schemas.microsoft.com/office/drawing/2014/main" id="{AFCAB923-3DA2-4060-B1BE-C80C672369A6}"/>
              </a:ext>
            </a:extLst>
          </p:cNvPr>
          <p:cNvSpPr>
            <a:spLocks noGrp="1"/>
          </p:cNvSpPr>
          <p:nvPr/>
        </p:nvSpPr>
        <p:spPr>
          <a:xfrm>
            <a:off x="11125200" y="2867025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1" name="vector-168">
            <a:extLst>
              <a:ext uri="{FF2B5EF4-FFF2-40B4-BE49-F238E27FC236}">
                <a16:creationId xmlns:a16="http://schemas.microsoft.com/office/drawing/2014/main" id="{279B61F3-8955-4BA2-985E-44BB8182E14F}"/>
              </a:ext>
            </a:extLst>
          </p:cNvPr>
          <p:cNvSpPr>
            <a:spLocks noGrp="1"/>
          </p:cNvSpPr>
          <p:nvPr/>
        </p:nvSpPr>
        <p:spPr>
          <a:xfrm>
            <a:off x="11344275" y="2867025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2" name="vector-169">
            <a:extLst>
              <a:ext uri="{FF2B5EF4-FFF2-40B4-BE49-F238E27FC236}">
                <a16:creationId xmlns:a16="http://schemas.microsoft.com/office/drawing/2014/main" id="{0399C680-AFCA-4F71-8315-BD2FCAF8D172}"/>
              </a:ext>
            </a:extLst>
          </p:cNvPr>
          <p:cNvSpPr>
            <a:spLocks noGrp="1"/>
          </p:cNvSpPr>
          <p:nvPr/>
        </p:nvSpPr>
        <p:spPr>
          <a:xfrm>
            <a:off x="11563350" y="2867025"/>
            <a:ext cx="95250" cy="95250"/>
          </a:xfrm>
          <a:prstGeom prst="ellipse">
            <a:avLst/>
          </a:prstGeom>
          <a:solidFill>
            <a:srgbClr val="218A83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3" name="vector-170">
            <a:extLst>
              <a:ext uri="{FF2B5EF4-FFF2-40B4-BE49-F238E27FC236}">
                <a16:creationId xmlns:a16="http://schemas.microsoft.com/office/drawing/2014/main" id="{B4C525C0-5992-4527-A411-9F2B9EFAB972}"/>
              </a:ext>
            </a:extLst>
          </p:cNvPr>
          <p:cNvSpPr>
            <a:spLocks noGrp="1"/>
          </p:cNvSpPr>
          <p:nvPr/>
        </p:nvSpPr>
        <p:spPr>
          <a:xfrm>
            <a:off x="11782425" y="2867025"/>
            <a:ext cx="95250" cy="95250"/>
          </a:xfrm>
          <a:prstGeom prst="ellipse">
            <a:avLst/>
          </a:prstGeom>
          <a:solidFill>
            <a:srgbClr val="218A83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4" name="path-171">
            <a:extLst>
              <a:ext uri="{FF2B5EF4-FFF2-40B4-BE49-F238E27FC236}">
                <a16:creationId xmlns:a16="http://schemas.microsoft.com/office/drawing/2014/main" id="{3A2C72DD-6E86-40FD-9BE1-7ED7978C7FAE}"/>
              </a:ext>
            </a:extLst>
          </p:cNvPr>
          <p:cNvSpPr>
            <a:spLocks noGrp="1"/>
          </p:cNvSpPr>
          <p:nvPr/>
        </p:nvSpPr>
        <p:spPr>
          <a:xfrm>
            <a:off x="10420350" y="3028950"/>
            <a:ext cx="1504950" cy="953"/>
          </a:xfrm>
          <a:custGeom>
            <a:avLst/>
            <a:gdLst/>
            <a:ahLst/>
            <a:cxnLst/>
            <a:rect l="0" t="0" r="0" b="0"/>
            <a:pathLst>
              <a:path w="1504950" h="953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10478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5" name="vector-172">
            <a:extLst>
              <a:ext uri="{FF2B5EF4-FFF2-40B4-BE49-F238E27FC236}">
                <a16:creationId xmlns:a16="http://schemas.microsoft.com/office/drawing/2014/main" id="{E7CBA2CF-F0E9-41F3-B54F-7580586DD41C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2238375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true-label gaps</a:t>
            </a:r>
          </a:p>
        </p:txBody>
      </p:sp>
      <p:sp>
        <p:nvSpPr>
          <p:cNvPr id="186" name="vector-173">
            <a:extLst>
              <a:ext uri="{FF2B5EF4-FFF2-40B4-BE49-F238E27FC236}">
                <a16:creationId xmlns:a16="http://schemas.microsoft.com/office/drawing/2014/main" id="{8D42356C-115E-4105-8F7C-70F63B124FBB}"/>
              </a:ext>
            </a:extLst>
          </p:cNvPr>
          <p:cNvSpPr>
            <a:spLocks noGrp="1"/>
          </p:cNvSpPr>
          <p:nvPr/>
        </p:nvSpPr>
        <p:spPr>
          <a:xfrm>
            <a:off x="12039124" y="29141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87" name="vector-174">
            <a:extLst>
              <a:ext uri="{FF2B5EF4-FFF2-40B4-BE49-F238E27FC236}">
                <a16:creationId xmlns:a16="http://schemas.microsoft.com/office/drawing/2014/main" id="{80245CFB-A915-41C3-BBC0-E5863E65F833}"/>
              </a:ext>
            </a:extLst>
          </p:cNvPr>
          <p:cNvSpPr>
            <a:spLocks noGrp="1"/>
          </p:cNvSpPr>
          <p:nvPr/>
        </p:nvSpPr>
        <p:spPr>
          <a:xfrm>
            <a:off x="12505849" y="29141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08" name="Straight Arrow Connector 407"/>
          <p:cNvCxnSpPr>
            <a:stCxn id="186" idx="3"/>
            <a:endCxn id="187" idx="1"/>
          </p:cNvCxnSpPr>
          <p:nvPr/>
        </p:nvCxnSpPr>
        <p:spPr>
          <a:xfrm>
            <a:off x="12040077" y="2914651"/>
            <a:ext cx="46577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89" name="vector-175">
            <a:extLst>
              <a:ext uri="{FF2B5EF4-FFF2-40B4-BE49-F238E27FC236}">
                <a16:creationId xmlns:a16="http://schemas.microsoft.com/office/drawing/2014/main" id="{99147781-3058-4DE0-BA4E-2B95376D7F4E}"/>
              </a:ext>
            </a:extLst>
          </p:cNvPr>
          <p:cNvSpPr>
            <a:spLocks noGrp="1"/>
          </p:cNvSpPr>
          <p:nvPr/>
        </p:nvSpPr>
        <p:spPr>
          <a:xfrm>
            <a:off x="12525375" y="2676525"/>
            <a:ext cx="476250" cy="476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0" name="vector-176">
            <a:extLst>
              <a:ext uri="{FF2B5EF4-FFF2-40B4-BE49-F238E27FC236}">
                <a16:creationId xmlns:a16="http://schemas.microsoft.com/office/drawing/2014/main" id="{8C3C064B-3C79-4E38-969C-5968D710A350}"/>
              </a:ext>
            </a:extLst>
          </p:cNvPr>
          <p:cNvSpPr>
            <a:spLocks noGrp="1"/>
          </p:cNvSpPr>
          <p:nvPr/>
        </p:nvSpPr>
        <p:spPr>
          <a:xfrm>
            <a:off x="12553950" y="2724150"/>
            <a:ext cx="419100" cy="3619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191" name="path-177">
            <a:extLst>
              <a:ext uri="{FF2B5EF4-FFF2-40B4-BE49-F238E27FC236}">
                <a16:creationId xmlns:a16="http://schemas.microsoft.com/office/drawing/2014/main" id="{32D67156-5FB9-48D1-B768-6673EE341505}"/>
              </a:ext>
            </a:extLst>
          </p:cNvPr>
          <p:cNvSpPr>
            <a:spLocks noGrp="1"/>
          </p:cNvSpPr>
          <p:nvPr/>
        </p:nvSpPr>
        <p:spPr>
          <a:xfrm>
            <a:off x="12763500" y="323850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2" name="path-178">
            <a:extLst>
              <a:ext uri="{FF2B5EF4-FFF2-40B4-BE49-F238E27FC236}">
                <a16:creationId xmlns:a16="http://schemas.microsoft.com/office/drawing/2014/main" id="{0699E361-BEAD-46A1-BAEE-52872CBAE769}"/>
              </a:ext>
            </a:extLst>
          </p:cNvPr>
          <p:cNvSpPr>
            <a:spLocks noGrp="1"/>
          </p:cNvSpPr>
          <p:nvPr/>
        </p:nvSpPr>
        <p:spPr>
          <a:xfrm>
            <a:off x="12763500" y="336232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3" name="path-179">
            <a:extLst>
              <a:ext uri="{FF2B5EF4-FFF2-40B4-BE49-F238E27FC236}">
                <a16:creationId xmlns:a16="http://schemas.microsoft.com/office/drawing/2014/main" id="{03BE6E70-C7D2-4DF2-8D85-9368E642B56B}"/>
              </a:ext>
            </a:extLst>
          </p:cNvPr>
          <p:cNvSpPr>
            <a:spLocks noGrp="1"/>
          </p:cNvSpPr>
          <p:nvPr/>
        </p:nvSpPr>
        <p:spPr>
          <a:xfrm>
            <a:off x="12763500" y="348615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4" name="path-180">
            <a:extLst>
              <a:ext uri="{FF2B5EF4-FFF2-40B4-BE49-F238E27FC236}">
                <a16:creationId xmlns:a16="http://schemas.microsoft.com/office/drawing/2014/main" id="{78F39BB8-72A6-4F2E-B94B-3EAF0C618D4F}"/>
              </a:ext>
            </a:extLst>
          </p:cNvPr>
          <p:cNvSpPr>
            <a:spLocks noGrp="1"/>
          </p:cNvSpPr>
          <p:nvPr/>
        </p:nvSpPr>
        <p:spPr>
          <a:xfrm>
            <a:off x="12763500" y="360997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5" name="path-181">
            <a:extLst>
              <a:ext uri="{FF2B5EF4-FFF2-40B4-BE49-F238E27FC236}">
                <a16:creationId xmlns:a16="http://schemas.microsoft.com/office/drawing/2014/main" id="{14C1742D-4851-4038-BDF4-965B9EB265D4}"/>
              </a:ext>
            </a:extLst>
          </p:cNvPr>
          <p:cNvSpPr>
            <a:spLocks noGrp="1"/>
          </p:cNvSpPr>
          <p:nvPr/>
        </p:nvSpPr>
        <p:spPr>
          <a:xfrm>
            <a:off x="12763500" y="373380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6" name="vector-182">
            <a:extLst>
              <a:ext uri="{FF2B5EF4-FFF2-40B4-BE49-F238E27FC236}">
                <a16:creationId xmlns:a16="http://schemas.microsoft.com/office/drawing/2014/main" id="{FFC32F69-BFE6-4E7E-B79E-25D088A152C7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28600" cy="22860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7" name="vector-183">
            <a:extLst>
              <a:ext uri="{FF2B5EF4-FFF2-40B4-BE49-F238E27FC236}">
                <a16:creationId xmlns:a16="http://schemas.microsoft.com/office/drawing/2014/main" id="{4B2BB4C8-DDBD-4280-AFD1-433D94118499}"/>
              </a:ext>
            </a:extLst>
          </p:cNvPr>
          <p:cNvSpPr>
            <a:spLocks noGrp="1"/>
          </p:cNvSpPr>
          <p:nvPr/>
        </p:nvSpPr>
        <p:spPr>
          <a:xfrm>
            <a:off x="8162925" y="3609975"/>
            <a:ext cx="209550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8" name="vector-184">
            <a:extLst>
              <a:ext uri="{FF2B5EF4-FFF2-40B4-BE49-F238E27FC236}">
                <a16:creationId xmlns:a16="http://schemas.microsoft.com/office/drawing/2014/main" id="{17849A4B-7790-4804-8459-78BC044F90E2}"/>
              </a:ext>
            </a:extLst>
          </p:cNvPr>
          <p:cNvSpPr>
            <a:spLocks noGrp="1"/>
          </p:cNvSpPr>
          <p:nvPr/>
        </p:nvSpPr>
        <p:spPr>
          <a:xfrm>
            <a:off x="8486775" y="3600450"/>
            <a:ext cx="2466975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Keep gaps ≤ τ</a:t>
            </a:r>
          </a:p>
        </p:txBody>
      </p:sp>
      <p:sp>
        <p:nvSpPr>
          <p:cNvPr id="199" name="vector-185">
            <a:extLst>
              <a:ext uri="{FF2B5EF4-FFF2-40B4-BE49-F238E27FC236}">
                <a16:creationId xmlns:a16="http://schemas.microsoft.com/office/drawing/2014/main" id="{5017B7FA-0ABE-4985-86D1-3868CD4735D5}"/>
              </a:ext>
            </a:extLst>
          </p:cNvPr>
          <p:cNvSpPr>
            <a:spLocks noGrp="1"/>
          </p:cNvSpPr>
          <p:nvPr/>
        </p:nvSpPr>
        <p:spPr>
          <a:xfrm>
            <a:off x="10067925" y="4000500"/>
            <a:ext cx="371475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00" name="vector-186">
            <a:extLst>
              <a:ext uri="{FF2B5EF4-FFF2-40B4-BE49-F238E27FC236}">
                <a16:creationId xmlns:a16="http://schemas.microsoft.com/office/drawing/2014/main" id="{BFE236AA-0C17-4ABA-AAAF-925213568BD1}"/>
              </a:ext>
            </a:extLst>
          </p:cNvPr>
          <p:cNvSpPr>
            <a:spLocks noGrp="1"/>
          </p:cNvSpPr>
          <p:nvPr/>
        </p:nvSpPr>
        <p:spPr>
          <a:xfrm>
            <a:off x="10563225" y="4076700"/>
            <a:ext cx="76200" cy="76200"/>
          </a:xfrm>
          <a:prstGeom prst="ellipse">
            <a:avLst/>
          </a:prstGeom>
          <a:solidFill>
            <a:srgbClr val="8B6BB4"/>
          </a:solidFill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1" name="vector-187">
            <a:extLst>
              <a:ext uri="{FF2B5EF4-FFF2-40B4-BE49-F238E27FC236}">
                <a16:creationId xmlns:a16="http://schemas.microsoft.com/office/drawing/2014/main" id="{3BF84352-A7E7-42D7-8631-64B3AEDF4074}"/>
              </a:ext>
            </a:extLst>
          </p:cNvPr>
          <p:cNvSpPr>
            <a:spLocks noGrp="1"/>
          </p:cNvSpPr>
          <p:nvPr/>
        </p:nvSpPr>
        <p:spPr>
          <a:xfrm>
            <a:off x="10067925" y="4295775"/>
            <a:ext cx="371475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02" name="vector-188">
            <a:extLst>
              <a:ext uri="{FF2B5EF4-FFF2-40B4-BE49-F238E27FC236}">
                <a16:creationId xmlns:a16="http://schemas.microsoft.com/office/drawing/2014/main" id="{D02FA349-2887-48F0-AE98-7D3A7E033F7E}"/>
              </a:ext>
            </a:extLst>
          </p:cNvPr>
          <p:cNvSpPr>
            <a:spLocks noGrp="1"/>
          </p:cNvSpPr>
          <p:nvPr/>
        </p:nvSpPr>
        <p:spPr>
          <a:xfrm>
            <a:off x="10601325" y="4343400"/>
            <a:ext cx="971550" cy="13335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3" name="vector-189">
            <a:extLst>
              <a:ext uri="{FF2B5EF4-FFF2-40B4-BE49-F238E27FC236}">
                <a16:creationId xmlns:a16="http://schemas.microsoft.com/office/drawing/2014/main" id="{6DA4A572-7889-4D2E-92F4-09454667EE96}"/>
              </a:ext>
            </a:extLst>
          </p:cNvPr>
          <p:cNvSpPr>
            <a:spLocks noGrp="1"/>
          </p:cNvSpPr>
          <p:nvPr/>
        </p:nvSpPr>
        <p:spPr>
          <a:xfrm>
            <a:off x="10067925" y="4591050"/>
            <a:ext cx="371475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204" name="vector-190">
            <a:extLst>
              <a:ext uri="{FF2B5EF4-FFF2-40B4-BE49-F238E27FC236}">
                <a16:creationId xmlns:a16="http://schemas.microsoft.com/office/drawing/2014/main" id="{8DCE0F73-4130-4D8D-9684-E541669ADC77}"/>
              </a:ext>
            </a:extLst>
          </p:cNvPr>
          <p:cNvSpPr>
            <a:spLocks noGrp="1"/>
          </p:cNvSpPr>
          <p:nvPr/>
        </p:nvSpPr>
        <p:spPr>
          <a:xfrm>
            <a:off x="10601325" y="4638675"/>
            <a:ext cx="2352675" cy="133350"/>
          </a:xfrm>
          <a:prstGeom prst="roundRect">
            <a:avLst>
              <a:gd name="adj" fmla="val 50000"/>
            </a:avLst>
          </a:prstGeom>
          <a:solidFill>
            <a:srgbClr val="C9CDD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5" name="path-191">
            <a:extLst>
              <a:ext uri="{FF2B5EF4-FFF2-40B4-BE49-F238E27FC236}">
                <a16:creationId xmlns:a16="http://schemas.microsoft.com/office/drawing/2014/main" id="{43BBBB59-E9B7-4418-9D0A-0BD8404C20CB}"/>
              </a:ext>
            </a:extLst>
          </p:cNvPr>
          <p:cNvSpPr>
            <a:spLocks noGrp="1"/>
          </p:cNvSpPr>
          <p:nvPr/>
        </p:nvSpPr>
        <p:spPr>
          <a:xfrm>
            <a:off x="12763500" y="3857625"/>
            <a:ext cx="953" cy="1028700"/>
          </a:xfrm>
          <a:custGeom>
            <a:avLst/>
            <a:gdLst/>
            <a:ahLst/>
            <a:cxnLst/>
            <a:rect l="0" t="0" r="0" b="0"/>
            <a:pathLst>
              <a:path w="953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6" name="vector-192">
            <a:extLst>
              <a:ext uri="{FF2B5EF4-FFF2-40B4-BE49-F238E27FC236}">
                <a16:creationId xmlns:a16="http://schemas.microsoft.com/office/drawing/2014/main" id="{9E351E9B-B366-4374-B63C-E0E1F3E9C45C}"/>
              </a:ext>
            </a:extLst>
          </p:cNvPr>
          <p:cNvSpPr>
            <a:spLocks noGrp="1"/>
          </p:cNvSpPr>
          <p:nvPr/>
        </p:nvSpPr>
        <p:spPr>
          <a:xfrm>
            <a:off x="12582525" y="4895850"/>
            <a:ext cx="361950" cy="2381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207" name="vector-193">
            <a:extLst>
              <a:ext uri="{FF2B5EF4-FFF2-40B4-BE49-F238E27FC236}">
                <a16:creationId xmlns:a16="http://schemas.microsoft.com/office/drawing/2014/main" id="{A44D1CD1-1E0A-4955-B7E6-4969E5159EEC}"/>
              </a:ext>
            </a:extLst>
          </p:cNvPr>
          <p:cNvSpPr>
            <a:spLocks noGrp="1"/>
          </p:cNvSpPr>
          <p:nvPr/>
        </p:nvSpPr>
        <p:spPr>
          <a:xfrm>
            <a:off x="9477375" y="4933950"/>
            <a:ext cx="2905125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gap from highest probability</a:t>
            </a:r>
          </a:p>
        </p:txBody>
      </p:sp>
      <p:sp>
        <p:nvSpPr>
          <p:cNvPr id="208" name="vector-194">
            <a:extLst>
              <a:ext uri="{FF2B5EF4-FFF2-40B4-BE49-F238E27FC236}">
                <a16:creationId xmlns:a16="http://schemas.microsoft.com/office/drawing/2014/main" id="{F72B4EC1-9245-47C0-9251-D1AA01A81FFB}"/>
              </a:ext>
            </a:extLst>
          </p:cNvPr>
          <p:cNvSpPr>
            <a:spLocks noGrp="1"/>
          </p:cNvSpPr>
          <p:nvPr/>
        </p:nvSpPr>
        <p:spPr>
          <a:xfrm>
            <a:off x="13277374" y="44095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9" name="vector-195">
            <a:extLst>
              <a:ext uri="{FF2B5EF4-FFF2-40B4-BE49-F238E27FC236}">
                <a16:creationId xmlns:a16="http://schemas.microsoft.com/office/drawing/2014/main" id="{4CEC35E0-11A4-4BB0-AFC6-7003B309E9EC}"/>
              </a:ext>
            </a:extLst>
          </p:cNvPr>
          <p:cNvSpPr>
            <a:spLocks noGrp="1"/>
          </p:cNvSpPr>
          <p:nvPr/>
        </p:nvSpPr>
        <p:spPr>
          <a:xfrm>
            <a:off x="14153674" y="44095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30" name="Straight Arrow Connector 429"/>
          <p:cNvCxnSpPr>
            <a:stCxn id="208" idx="3"/>
            <a:endCxn id="209" idx="1"/>
          </p:cNvCxnSpPr>
          <p:nvPr/>
        </p:nvCxnSpPr>
        <p:spPr>
          <a:xfrm>
            <a:off x="13278327" y="4410076"/>
            <a:ext cx="875347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211" name="vector-196">
            <a:extLst>
              <a:ext uri="{FF2B5EF4-FFF2-40B4-BE49-F238E27FC236}">
                <a16:creationId xmlns:a16="http://schemas.microsoft.com/office/drawing/2014/main" id="{7283BE56-0B52-47D9-A5C2-51C4A67898EB}"/>
              </a:ext>
            </a:extLst>
          </p:cNvPr>
          <p:cNvSpPr>
            <a:spLocks noGrp="1"/>
          </p:cNvSpPr>
          <p:nvPr/>
        </p:nvSpPr>
        <p:spPr>
          <a:xfrm>
            <a:off x="14249400" y="4105275"/>
            <a:ext cx="276225" cy="5619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212" name="vector-197">
            <a:extLst>
              <a:ext uri="{FF2B5EF4-FFF2-40B4-BE49-F238E27FC236}">
                <a16:creationId xmlns:a16="http://schemas.microsoft.com/office/drawing/2014/main" id="{0F77D66B-76C4-4060-879C-274B6BF6CD60}"/>
              </a:ext>
            </a:extLst>
          </p:cNvPr>
          <p:cNvSpPr>
            <a:spLocks noGrp="1"/>
          </p:cNvSpPr>
          <p:nvPr/>
        </p:nvSpPr>
        <p:spPr>
          <a:xfrm>
            <a:off x="14544675" y="4191000"/>
            <a:ext cx="438150" cy="43815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13" name="vector-198">
            <a:extLst>
              <a:ext uri="{FF2B5EF4-FFF2-40B4-BE49-F238E27FC236}">
                <a16:creationId xmlns:a16="http://schemas.microsoft.com/office/drawing/2014/main" id="{7C128462-3FF2-4DE1-B4C8-8F3BBF1E87AE}"/>
              </a:ext>
            </a:extLst>
          </p:cNvPr>
          <p:cNvSpPr>
            <a:spLocks noGrp="1"/>
          </p:cNvSpPr>
          <p:nvPr/>
        </p:nvSpPr>
        <p:spPr>
          <a:xfrm>
            <a:off x="14563725" y="4248150"/>
            <a:ext cx="4000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14" name="vector-199">
            <a:extLst>
              <a:ext uri="{FF2B5EF4-FFF2-40B4-BE49-F238E27FC236}">
                <a16:creationId xmlns:a16="http://schemas.microsoft.com/office/drawing/2014/main" id="{D4BD7039-40F0-489C-8B72-36C1015B5A99}"/>
              </a:ext>
            </a:extLst>
          </p:cNvPr>
          <p:cNvSpPr>
            <a:spLocks noGrp="1"/>
          </p:cNvSpPr>
          <p:nvPr/>
        </p:nvSpPr>
        <p:spPr>
          <a:xfrm>
            <a:off x="15116175" y="4191000"/>
            <a:ext cx="438150" cy="43815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15" name="vector-200">
            <a:extLst>
              <a:ext uri="{FF2B5EF4-FFF2-40B4-BE49-F238E27FC236}">
                <a16:creationId xmlns:a16="http://schemas.microsoft.com/office/drawing/2014/main" id="{0CF0DC56-2066-4F09-AD9C-435463257FF9}"/>
              </a:ext>
            </a:extLst>
          </p:cNvPr>
          <p:cNvSpPr>
            <a:spLocks noGrp="1"/>
          </p:cNvSpPr>
          <p:nvPr/>
        </p:nvSpPr>
        <p:spPr>
          <a:xfrm>
            <a:off x="15135225" y="4248150"/>
            <a:ext cx="4000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16" name="vector-201">
            <a:extLst>
              <a:ext uri="{FF2B5EF4-FFF2-40B4-BE49-F238E27FC236}">
                <a16:creationId xmlns:a16="http://schemas.microsoft.com/office/drawing/2014/main" id="{13F73881-4D1B-4183-AA28-9CD3E1222FFF}"/>
              </a:ext>
            </a:extLst>
          </p:cNvPr>
          <p:cNvSpPr>
            <a:spLocks noGrp="1"/>
          </p:cNvSpPr>
          <p:nvPr/>
        </p:nvSpPr>
        <p:spPr>
          <a:xfrm>
            <a:off x="15640050" y="4105275"/>
            <a:ext cx="276225" cy="5619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17" name="vector-202">
            <a:extLst>
              <a:ext uri="{FF2B5EF4-FFF2-40B4-BE49-F238E27FC236}">
                <a16:creationId xmlns:a16="http://schemas.microsoft.com/office/drawing/2014/main" id="{F9B1D0C9-50F6-4B73-9ECE-467799E8F337}"/>
              </a:ext>
            </a:extLst>
          </p:cNvPr>
          <p:cNvSpPr>
            <a:spLocks noGrp="1"/>
          </p:cNvSpPr>
          <p:nvPr/>
        </p:nvSpPr>
        <p:spPr>
          <a:xfrm>
            <a:off x="13925550" y="4857750"/>
            <a:ext cx="2533650" cy="2762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prediction set Γ</a:t>
            </a:r>
          </a:p>
        </p:txBody>
      </p:sp>
      <p:sp>
        <p:nvSpPr>
          <p:cNvPr id="218" name="vector-203">
            <a:extLst>
              <a:ext uri="{FF2B5EF4-FFF2-40B4-BE49-F238E27FC236}">
                <a16:creationId xmlns:a16="http://schemas.microsoft.com/office/drawing/2014/main" id="{E997B8C5-D790-4119-91D6-9F6562C8BB2C}"/>
              </a:ext>
            </a:extLst>
          </p:cNvPr>
          <p:cNvSpPr>
            <a:spLocks noGrp="1"/>
          </p:cNvSpPr>
          <p:nvPr/>
        </p:nvSpPr>
        <p:spPr>
          <a:xfrm>
            <a:off x="9163050" y="5257800"/>
            <a:ext cx="7553325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Marginal coverage ≥ 1 − α under exchangeability</a:t>
            </a:r>
          </a:p>
        </p:txBody>
      </p:sp>
      <p:sp>
        <p:nvSpPr>
          <p:cNvPr id="219" name="path-204">
            <a:extLst>
              <a:ext uri="{FF2B5EF4-FFF2-40B4-BE49-F238E27FC236}">
                <a16:creationId xmlns:a16="http://schemas.microsoft.com/office/drawing/2014/main" id="{9BF3FFCB-6928-4A37-9C15-910D4F271768}"/>
              </a:ext>
            </a:extLst>
          </p:cNvPr>
          <p:cNvSpPr>
            <a:spLocks noGrp="1"/>
          </p:cNvSpPr>
          <p:nvPr/>
        </p:nvSpPr>
        <p:spPr>
          <a:xfrm>
            <a:off x="381000" y="5572125"/>
            <a:ext cx="16383000" cy="953"/>
          </a:xfrm>
          <a:custGeom>
            <a:avLst/>
            <a:gdLst/>
            <a:ahLst/>
            <a:cxnLst/>
            <a:rect l="0" t="0" r="0" b="0"/>
            <a:pathLst>
              <a:path w="16383000" h="953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/>
          <a:ln w="11430">
            <a:solidFill>
              <a:srgbClr val="E7EBF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20" name="vector-205">
            <a:extLst>
              <a:ext uri="{FF2B5EF4-FFF2-40B4-BE49-F238E27FC236}">
                <a16:creationId xmlns:a16="http://schemas.microsoft.com/office/drawing/2014/main" id="{3B64C35B-B002-465A-907C-A73F9F10E1B7}"/>
              </a:ext>
            </a:extLst>
          </p:cNvPr>
          <p:cNvSpPr>
            <a:spLocks noGrp="1"/>
          </p:cNvSpPr>
          <p:nvPr/>
        </p:nvSpPr>
        <p:spPr>
          <a:xfrm>
            <a:off x="381000" y="5629275"/>
            <a:ext cx="1638300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Post-hoc candidate scores, no weight updates. Free-form AR generation is excluded.</a:t>
            </a:r>
          </a:p>
        </p:txBody>
      </p:sp>
    </p:spTree>
    <p:extLst>
      <p:ext uri="{BB962C8B-B14F-4D97-AF65-F5344CB8AC3E}">
        <p14:creationId xmlns:p14="http://schemas.microsoft.com/office/powerpoint/2010/main" val="4749213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Macintosh PowerPoint</Application>
  <DocSecurity>0</DocSecurity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Raza Imam</cp:lastModifiedBy>
  <cp:revision>1</cp:revision>
  <dcterms:created xsi:type="dcterms:W3CDTF">2026-10-01T10:57:41Z</dcterms:created>
  <dcterms:modified xsi:type="dcterms:W3CDTF">2026-10-01T11:10:04Z</dcterms:modified>
</cp:coreProperties>
</file>